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0A0D2F5-99EC-4086-95B6-1A6A8D51C328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tIns="-44640" rIns="90000" bIns="-44640" anchor="t">
            <a:noAutofit/>
          </a:bodyPr>
          <a:lstStyle/>
          <a:p>
            <a:pPr indent="0">
              <a:buNone/>
            </a:pP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F08593D-E418-4271-B3AB-86AE22B1262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74FFE19-ADB3-4F6F-A087-C9BD6D8C1C8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451C0F4-A023-4839-B4C7-9BA3438BC29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1BD7322-C16B-43F7-BBCF-1E1E6873D3C9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2"/>
          <p:cNvSpPr/>
          <p:nvPr/>
        </p:nvSpPr>
        <p:spPr>
          <a:xfrm>
            <a:off x="640080" y="567000"/>
            <a:ext cx="5394240" cy="11450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2F855A"/>
                </a:solidFill>
                <a:latin typeface="Times New Roman"/>
                <a:ea typeface="DejaVu Sans"/>
              </a:rPr>
              <a:t>CHARLES DARWIN UNIVERSITY</a:t>
            </a:r>
          </a:p>
          <a:p>
            <a:pPr defTabSz="457200"/>
            <a:r>
              <a:rPr lang="en-US" sz="2400" b="0" strike="noStrike" spc="-1" dirty="0">
                <a:solidFill>
                  <a:srgbClr val="C7D2E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PRT661 · Data Science Practice</a:t>
            </a:r>
          </a:p>
          <a:p>
            <a:pPr defTabSz="457200">
              <a:lnSpc>
                <a:spcPct val="100000"/>
              </a:lnSpc>
            </a:pPr>
            <a:endParaRPr lang="en-US" sz="24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TextBox 3"/>
          <p:cNvSpPr/>
          <p:nvPr/>
        </p:nvSpPr>
        <p:spPr>
          <a:xfrm>
            <a:off x="640080" y="2518395"/>
            <a:ext cx="5805720" cy="10219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200" b="1" strike="noStrike" spc="-1" dirty="0">
                <a:solidFill>
                  <a:srgbClr val="FFFFFF"/>
                </a:solidFill>
                <a:latin typeface="Times New Roman"/>
                <a:ea typeface="DejaVu Sans"/>
              </a:rPr>
              <a:t>Early vs Late Potato Blight Classification</a:t>
            </a:r>
            <a:endParaRPr lang="en-US" sz="3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Box 5"/>
          <p:cNvSpPr/>
          <p:nvPr/>
        </p:nvSpPr>
        <p:spPr>
          <a:xfrm>
            <a:off x="640080" y="4049651"/>
            <a:ext cx="5028480" cy="21376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/>
            <a:r>
              <a:rPr lang="en-US" sz="1800" b="0" kern="1200" spc="-1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Group:Dan7– Theme2</a:t>
            </a:r>
          </a:p>
          <a:p>
            <a:pPr defTabSz="457200"/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/>
            <a:r>
              <a:rPr lang="en-US" b="0" strike="noStrike" spc="-1" dirty="0">
                <a:solidFill>
                  <a:srgbClr val="C7D2E0"/>
                </a:solidFill>
                <a:latin typeface="Times New Roman"/>
                <a:ea typeface="DejaVu Sans"/>
              </a:rPr>
              <a:t>Kavya </a:t>
            </a:r>
            <a:r>
              <a:rPr lang="en-US" b="0" strike="noStrike" spc="-1" dirty="0" err="1">
                <a:solidFill>
                  <a:srgbClr val="C7D2E0"/>
                </a:solidFill>
                <a:latin typeface="Times New Roman"/>
                <a:ea typeface="DejaVu Sans"/>
              </a:rPr>
              <a:t>Sree</a:t>
            </a:r>
            <a:r>
              <a:rPr lang="en-US" b="0" strike="noStrike" spc="-1" dirty="0">
                <a:solidFill>
                  <a:srgbClr val="C7D2E0"/>
                </a:solidFill>
                <a:latin typeface="Times New Roman"/>
                <a:ea typeface="DejaVu Sans"/>
              </a:rPr>
              <a:t> Sunkara - S386025 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lnSpc>
                <a:spcPct val="100000"/>
              </a:lnSpc>
            </a:pPr>
            <a:r>
              <a:rPr lang="en-US" b="0" strike="noStrike" spc="-1" dirty="0">
                <a:solidFill>
                  <a:srgbClr val="C7D2E0"/>
                </a:solidFill>
                <a:latin typeface="Times New Roman"/>
                <a:ea typeface="DejaVu Sans"/>
              </a:rPr>
              <a:t>Mahdi Hasan Abdullah - S394885</a:t>
            </a:r>
          </a:p>
          <a:p>
            <a:pPr defTabSz="457200"/>
            <a:r>
              <a:rPr lang="en-US" b="0" strike="noStrike" spc="-1" dirty="0">
                <a:solidFill>
                  <a:srgbClr val="C7D2E0"/>
                </a:solidFill>
                <a:latin typeface="Times New Roman"/>
                <a:ea typeface="DejaVu Sans"/>
              </a:rPr>
              <a:t>Sayed </a:t>
            </a:r>
            <a:r>
              <a:rPr lang="en-US" b="0" strike="noStrike" spc="-1" dirty="0" err="1">
                <a:solidFill>
                  <a:srgbClr val="C7D2E0"/>
                </a:solidFill>
                <a:latin typeface="Times New Roman"/>
                <a:ea typeface="DejaVu Sans"/>
              </a:rPr>
              <a:t>Mahidul</a:t>
            </a:r>
            <a:r>
              <a:rPr lang="en-US" b="0" strike="noStrike" spc="-1" dirty="0">
                <a:solidFill>
                  <a:srgbClr val="C7D2E0"/>
                </a:solidFill>
                <a:latin typeface="Times New Roman"/>
                <a:ea typeface="DejaVu Sans"/>
              </a:rPr>
              <a:t> Islam </a:t>
            </a:r>
            <a:r>
              <a:rPr lang="en-US" b="0" strike="noStrike" spc="-1" dirty="0" err="1">
                <a:solidFill>
                  <a:srgbClr val="C7D2E0"/>
                </a:solidFill>
                <a:latin typeface="Times New Roman"/>
                <a:ea typeface="DejaVu Sans"/>
              </a:rPr>
              <a:t>Rafel</a:t>
            </a:r>
            <a:r>
              <a:rPr lang="en-US" b="0" strike="noStrike" spc="-1" dirty="0">
                <a:solidFill>
                  <a:srgbClr val="C7D2E0"/>
                </a:solidFill>
                <a:latin typeface="Times New Roman"/>
                <a:ea typeface="DejaVu Sans"/>
              </a:rPr>
              <a:t> - S387949</a:t>
            </a:r>
            <a:endParaRPr lang="en-US" b="0" strike="noStrike" spc="-1" dirty="0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b="0" strike="noStrike" spc="-1" dirty="0">
                <a:solidFill>
                  <a:srgbClr val="C7D2E0"/>
                </a:solidFill>
                <a:latin typeface="Times New Roman"/>
                <a:ea typeface="DejaVu Sans"/>
              </a:rPr>
              <a:t>Partha Mallik - S392819</a:t>
            </a:r>
            <a:endParaRPr lang="en-US" b="0" strike="noStrike" spc="-1" dirty="0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b="0" strike="noStrike" spc="-1" dirty="0">
                <a:solidFill>
                  <a:srgbClr val="C7D2E0"/>
                </a:solidFill>
                <a:latin typeface="Times New Roman"/>
                <a:ea typeface="DejaVu Sans"/>
              </a:rPr>
              <a:t>Datta Sai </a:t>
            </a:r>
            <a:r>
              <a:rPr lang="en-US" b="0" strike="noStrike" spc="-1" dirty="0" err="1">
                <a:solidFill>
                  <a:srgbClr val="C7D2E0"/>
                </a:solidFill>
                <a:latin typeface="Times New Roman"/>
                <a:ea typeface="DejaVu Sans"/>
              </a:rPr>
              <a:t>Kanaparthi</a:t>
            </a:r>
            <a:r>
              <a:rPr lang="en-US" b="0" strike="noStrike" spc="-1" dirty="0">
                <a:solidFill>
                  <a:srgbClr val="C7D2E0"/>
                </a:solidFill>
                <a:latin typeface="Times New Roman"/>
                <a:ea typeface="DejaVu Sans"/>
              </a:rPr>
              <a:t> - S385673 </a:t>
            </a:r>
            <a:endParaRPr lang="en-US" b="0" strike="noStrike" spc="-1" dirty="0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050" b="0" strike="noStrike" spc="-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" name="Picture 9" descr="fit_256_0_sample_images.jpg"/>
          <p:cNvPicPr/>
          <p:nvPr/>
        </p:nvPicPr>
        <p:blipFill>
          <a:blip r:embed="rId3"/>
          <a:stretch/>
        </p:blipFill>
        <p:spPr>
          <a:xfrm>
            <a:off x="6995160" y="0"/>
            <a:ext cx="5193000" cy="6857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1"/>
          <p:cNvSpPr/>
          <p:nvPr/>
        </p:nvSpPr>
        <p:spPr>
          <a:xfrm>
            <a:off x="530280" y="228600"/>
            <a:ext cx="795456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PRT661 · DATA SCIENCE PRACTICE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Box 2"/>
          <p:cNvSpPr/>
          <p:nvPr/>
        </p:nvSpPr>
        <p:spPr>
          <a:xfrm>
            <a:off x="530280" y="511920"/>
            <a:ext cx="1065204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Table of Contents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Oval 3"/>
          <p:cNvSpPr/>
          <p:nvPr/>
        </p:nvSpPr>
        <p:spPr>
          <a:xfrm>
            <a:off x="11155680" y="246960"/>
            <a:ext cx="547920" cy="54792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pc="-1" dirty="0">
                <a:solidFill>
                  <a:srgbClr val="FFFFFF"/>
                </a:solidFill>
                <a:latin typeface="Times New Roman"/>
              </a:rPr>
              <a:t>1</a:t>
            </a:r>
            <a:endParaRPr lang="en-US" sz="16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Rectangle 4"/>
          <p:cNvSpPr/>
          <p:nvPr/>
        </p:nvSpPr>
        <p:spPr>
          <a:xfrm>
            <a:off x="530280" y="1078920"/>
            <a:ext cx="11154960" cy="22320"/>
          </a:xfrm>
          <a:prstGeom prst="rect">
            <a:avLst/>
          </a:prstGeom>
          <a:solidFill>
            <a:srgbClr val="DCE4E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27" name="TextBox 5"/>
          <p:cNvSpPr/>
          <p:nvPr/>
        </p:nvSpPr>
        <p:spPr>
          <a:xfrm>
            <a:off x="640080" y="1325880"/>
            <a:ext cx="5302800" cy="28685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2900" indent="-34290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+mj-lt"/>
              <a:buAutoNum type="arabicPeriod"/>
            </a:pPr>
            <a:r>
              <a:rPr lang="en-US" sz="1600" b="0" strike="noStrike" spc="-1" dirty="0">
                <a:solidFill>
                  <a:srgbClr val="172033"/>
                </a:solidFill>
                <a:latin typeface="Times New Roman"/>
                <a:ea typeface="DejaVu Sans"/>
              </a:rPr>
              <a:t>Problem and research question</a:t>
            </a:r>
            <a:endParaRPr lang="en-US" sz="1600" spc="-1" dirty="0">
              <a:solidFill>
                <a:srgbClr val="000000"/>
              </a:solidFill>
              <a:latin typeface="Arial"/>
            </a:endParaRPr>
          </a:p>
          <a:p>
            <a:pPr marL="342900" indent="-34290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+mj-lt"/>
              <a:buAutoNum type="arabicPeriod"/>
            </a:pPr>
            <a:r>
              <a:rPr lang="en-US" sz="1600" b="0" strike="noStrike" spc="-1" dirty="0">
                <a:solidFill>
                  <a:srgbClr val="172033"/>
                </a:solidFill>
                <a:latin typeface="Times New Roman"/>
                <a:ea typeface="DejaVu Sans"/>
              </a:rPr>
              <a:t>Balanced dataset and fixed split</a:t>
            </a:r>
            <a:endParaRPr lang="en-US" sz="1600" spc="-1" dirty="0">
              <a:solidFill>
                <a:srgbClr val="000000"/>
              </a:solidFill>
              <a:latin typeface="Arial"/>
            </a:endParaRPr>
          </a:p>
          <a:p>
            <a:pPr marL="342900" indent="-34290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+mj-lt"/>
              <a:buAutoNum type="arabicPeriod"/>
            </a:pPr>
            <a:r>
              <a:rPr lang="en-US" sz="1600" b="0" strike="noStrike" spc="-1" dirty="0">
                <a:solidFill>
                  <a:srgbClr val="172033"/>
                </a:solidFill>
                <a:latin typeface="Times New Roman"/>
                <a:ea typeface="DejaVu Sans"/>
              </a:rPr>
              <a:t>Implemented workflow</a:t>
            </a:r>
            <a:endParaRPr lang="en-US" sz="1600" spc="-1" dirty="0">
              <a:solidFill>
                <a:srgbClr val="000000"/>
              </a:solidFill>
              <a:latin typeface="Arial"/>
            </a:endParaRPr>
          </a:p>
          <a:p>
            <a:pPr marL="342900" indent="-34290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+mj-lt"/>
              <a:buAutoNum type="arabicPeriod"/>
            </a:pPr>
            <a:r>
              <a:rPr lang="en-US" sz="1600" b="0" strike="noStrike" spc="-1" dirty="0">
                <a:solidFill>
                  <a:srgbClr val="172033"/>
                </a:solidFill>
                <a:latin typeface="Times New Roman"/>
                <a:ea typeface="DejaVu Sans"/>
              </a:rPr>
              <a:t>Three-model design</a:t>
            </a:r>
            <a:endParaRPr lang="en-US" sz="1600" spc="-1" dirty="0">
              <a:solidFill>
                <a:srgbClr val="000000"/>
              </a:solidFill>
              <a:latin typeface="Arial"/>
            </a:endParaRPr>
          </a:p>
          <a:p>
            <a:pPr marL="342900" indent="-34290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+mj-lt"/>
              <a:buAutoNum type="arabicPeriod"/>
            </a:pPr>
            <a:r>
              <a:rPr lang="en-US" sz="1600" b="0" strike="noStrike" spc="-1" dirty="0">
                <a:solidFill>
                  <a:srgbClr val="172033"/>
                </a:solidFill>
                <a:latin typeface="Times New Roman"/>
                <a:ea typeface="DejaVu Sans"/>
              </a:rPr>
              <a:t>MobileNetV2 training and checkpoint selection</a:t>
            </a:r>
            <a:endParaRPr lang="en-US" sz="1600" spc="-1" dirty="0">
              <a:solidFill>
                <a:srgbClr val="000000"/>
              </a:solidFill>
              <a:latin typeface="Arial"/>
            </a:endParaRPr>
          </a:p>
          <a:p>
            <a:pPr marL="342900" indent="-34290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+mj-lt"/>
              <a:buAutoNum type="arabicPeriod"/>
            </a:pPr>
            <a:r>
              <a:rPr lang="en-US" sz="1600" b="0" strike="noStrike" spc="-1" dirty="0">
                <a:solidFill>
                  <a:srgbClr val="172033"/>
                </a:solidFill>
                <a:latin typeface="Times New Roman"/>
                <a:ea typeface="DejaVu Sans"/>
              </a:rPr>
              <a:t>Primary MobileNetV2 held-out result</a:t>
            </a:r>
            <a:endParaRPr lang="en-US" sz="1600" spc="-1" dirty="0">
              <a:solidFill>
                <a:srgbClr val="000000"/>
              </a:solidFill>
              <a:latin typeface="Arial"/>
            </a:endParaRPr>
          </a:p>
          <a:p>
            <a:pPr marL="342900" indent="-34290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+mj-lt"/>
              <a:buAutoNum type="arabicPeriod"/>
            </a:pPr>
            <a:r>
              <a:rPr lang="en-US" sz="1600" b="0" strike="noStrike" spc="-1" dirty="0">
                <a:solidFill>
                  <a:srgbClr val="172033"/>
                </a:solidFill>
                <a:latin typeface="Times New Roman"/>
                <a:ea typeface="DejaVu Sans"/>
              </a:rPr>
              <a:t>Untouched </a:t>
            </a:r>
            <a:r>
              <a:rPr lang="en-US" sz="1600" b="0" strike="noStrike" spc="-1" dirty="0" err="1">
                <a:solidFill>
                  <a:srgbClr val="172033"/>
                </a:solidFill>
                <a:latin typeface="Times New Roman"/>
                <a:ea typeface="DejaVu Sans"/>
              </a:rPr>
              <a:t>PlantDoc</a:t>
            </a:r>
            <a:r>
              <a:rPr lang="en-US" sz="1600" b="0" strike="noStrike" spc="-1" dirty="0">
                <a:solidFill>
                  <a:srgbClr val="172033"/>
                </a:solidFill>
                <a:latin typeface="Times New Roman"/>
                <a:ea typeface="DejaVu Sans"/>
              </a:rPr>
              <a:t> external evaluation</a:t>
            </a:r>
            <a:endParaRPr lang="en-US" sz="1600" spc="-1" dirty="0">
              <a:solidFill>
                <a:srgbClr val="000000"/>
              </a:solidFill>
              <a:latin typeface="Arial"/>
            </a:endParaRPr>
          </a:p>
          <a:p>
            <a:pPr marL="342900" indent="-34290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+mj-lt"/>
              <a:buAutoNum type="arabicPeriod"/>
            </a:pPr>
            <a:r>
              <a:rPr lang="en-US" sz="1600" b="0" strike="noStrike" spc="-1" dirty="0" err="1">
                <a:solidFill>
                  <a:srgbClr val="172033"/>
                </a:solidFill>
                <a:latin typeface="Times New Roman"/>
                <a:ea typeface="DejaVu Sans"/>
              </a:rPr>
              <a:t>Explainability</a:t>
            </a:r>
            <a:r>
              <a:rPr lang="en-US" sz="1600" b="0" strike="noStrike" spc="-1" dirty="0">
                <a:solidFill>
                  <a:srgbClr val="172033"/>
                </a:solidFill>
                <a:latin typeface="Times New Roman"/>
                <a:ea typeface="DejaVu Sans"/>
              </a:rPr>
              <a:t> and internal error review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Box 6"/>
          <p:cNvSpPr/>
          <p:nvPr/>
        </p:nvSpPr>
        <p:spPr>
          <a:xfrm>
            <a:off x="6263640" y="1325880"/>
            <a:ext cx="5302800" cy="35918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2900" indent="-34290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+mj-lt"/>
              <a:buAutoNum type="arabicPeriod" startAt="9"/>
            </a:pPr>
            <a:r>
              <a:rPr lang="en-US" sz="1600" b="0" strike="noStrike" spc="-1" dirty="0">
                <a:solidFill>
                  <a:srgbClr val="172033"/>
                </a:solidFill>
                <a:latin typeface="Times New Roman"/>
                <a:ea typeface="DejaVu Sans"/>
              </a:rPr>
              <a:t>Validation thresholds and paired evidence</a:t>
            </a:r>
            <a:endParaRPr lang="en-US" sz="1600" spc="-1" dirty="0">
              <a:solidFill>
                <a:srgbClr val="000000"/>
              </a:solidFill>
              <a:latin typeface="Arial"/>
            </a:endParaRPr>
          </a:p>
          <a:p>
            <a:pPr marL="342900" indent="-34290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+mj-lt"/>
              <a:buAutoNum type="arabicPeriod" startAt="9"/>
            </a:pPr>
            <a:r>
              <a:rPr lang="en-US" sz="1600" b="0" strike="noStrike" spc="-1" dirty="0">
                <a:solidFill>
                  <a:srgbClr val="172033"/>
                </a:solidFill>
                <a:latin typeface="Times New Roman"/>
                <a:ea typeface="DejaVu Sans"/>
              </a:rPr>
              <a:t>Segmentation exposed a probability shift</a:t>
            </a:r>
            <a:endParaRPr lang="en-US" sz="1600" spc="-1" dirty="0">
              <a:solidFill>
                <a:srgbClr val="000000"/>
              </a:solidFill>
              <a:latin typeface="Arial"/>
            </a:endParaRPr>
          </a:p>
          <a:p>
            <a:pPr marL="342900" indent="-34290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+mj-lt"/>
              <a:buAutoNum type="arabicPeriod" startAt="9"/>
            </a:pPr>
            <a:r>
              <a:rPr lang="en-US" sz="1600" b="0" strike="noStrike" spc="-1" dirty="0">
                <a:solidFill>
                  <a:srgbClr val="172033"/>
                </a:solidFill>
                <a:latin typeface="Times New Roman"/>
                <a:ea typeface="DejaVu Sans"/>
              </a:rPr>
              <a:t>Controlled image perturbations</a:t>
            </a:r>
            <a:endParaRPr lang="en-US" sz="1600" spc="-1" dirty="0">
              <a:solidFill>
                <a:srgbClr val="000000"/>
              </a:solidFill>
              <a:latin typeface="Arial"/>
            </a:endParaRPr>
          </a:p>
          <a:p>
            <a:pPr marL="342900" indent="-34290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+mj-lt"/>
              <a:buAutoNum type="arabicPeriod" startAt="9"/>
            </a:pPr>
            <a:r>
              <a:rPr lang="en-US" sz="1600" b="0" strike="noStrike" spc="-1" dirty="0">
                <a:solidFill>
                  <a:srgbClr val="172033"/>
                </a:solidFill>
                <a:latin typeface="Times New Roman"/>
                <a:ea typeface="DejaVu Sans"/>
              </a:rPr>
              <a:t>Ablation and efficiency</a:t>
            </a:r>
            <a:endParaRPr lang="en-US" sz="1600" spc="-1" dirty="0">
              <a:solidFill>
                <a:srgbClr val="000000"/>
              </a:solidFill>
              <a:latin typeface="Arial"/>
            </a:endParaRPr>
          </a:p>
          <a:p>
            <a:pPr marL="342900" indent="-34290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+mj-lt"/>
              <a:buAutoNum type="arabicPeriod" startAt="9"/>
            </a:pPr>
            <a:r>
              <a:rPr lang="en-US" sz="1600" b="0" strike="noStrike" spc="-1" dirty="0">
                <a:solidFill>
                  <a:srgbClr val="172033"/>
                </a:solidFill>
                <a:latin typeface="Times New Roman"/>
                <a:ea typeface="DejaVu Sans"/>
              </a:rPr>
              <a:t>Feedback-integrated results explorer</a:t>
            </a:r>
            <a:endParaRPr lang="en-US" sz="1600" spc="-1" dirty="0">
              <a:solidFill>
                <a:srgbClr val="000000"/>
              </a:solidFill>
              <a:latin typeface="Arial"/>
            </a:endParaRPr>
          </a:p>
          <a:p>
            <a:pPr marL="342900" indent="-34290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+mj-lt"/>
              <a:buAutoNum type="arabicPeriod" startAt="9"/>
            </a:pPr>
            <a:r>
              <a:rPr lang="en-US" sz="1600" b="0" strike="noStrike" spc="-1" dirty="0">
                <a:solidFill>
                  <a:srgbClr val="172033"/>
                </a:solidFill>
                <a:latin typeface="Times New Roman"/>
                <a:ea typeface="DejaVu Sans"/>
              </a:rPr>
              <a:t>Ethics, privacy and security</a:t>
            </a:r>
            <a:endParaRPr lang="en-US" sz="1600" spc="-1" dirty="0">
              <a:solidFill>
                <a:srgbClr val="000000"/>
              </a:solidFill>
              <a:latin typeface="Arial"/>
            </a:endParaRPr>
          </a:p>
          <a:p>
            <a:pPr marL="342900" indent="-34290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+mj-lt"/>
              <a:buAutoNum type="arabicPeriod" startAt="9"/>
            </a:pPr>
            <a:r>
              <a:rPr lang="en-US" sz="1600" b="0" strike="noStrike" spc="-1" dirty="0">
                <a:solidFill>
                  <a:srgbClr val="172033"/>
                </a:solidFill>
                <a:latin typeface="Times New Roman"/>
                <a:ea typeface="DejaVu Sans"/>
              </a:rPr>
              <a:t>Implementation status and evidence gaps</a:t>
            </a:r>
            <a:endParaRPr lang="en-US" sz="1600" spc="-1" dirty="0">
              <a:solidFill>
                <a:srgbClr val="000000"/>
              </a:solidFill>
              <a:latin typeface="Arial"/>
            </a:endParaRPr>
          </a:p>
          <a:p>
            <a:pPr marL="342900" indent="-34290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+mj-lt"/>
              <a:buAutoNum type="arabicPeriod" startAt="9"/>
            </a:pPr>
            <a:r>
              <a:rPr lang="en-US" sz="1600" b="0" strike="noStrike" spc="-1" dirty="0" err="1">
                <a:solidFill>
                  <a:srgbClr val="172033"/>
                </a:solidFill>
                <a:latin typeface="Times New Roman"/>
                <a:ea typeface="DejaVu Sans"/>
              </a:rPr>
              <a:t>Prioritised</a:t>
            </a:r>
            <a:r>
              <a:rPr lang="en-US" sz="1600" b="0" strike="noStrike" spc="-1" dirty="0">
                <a:solidFill>
                  <a:srgbClr val="172033"/>
                </a:solidFill>
                <a:latin typeface="Times New Roman"/>
                <a:ea typeface="DejaVu Sans"/>
              </a:rPr>
              <a:t> next steps</a:t>
            </a:r>
            <a:endParaRPr lang="en-US" sz="1600" spc="-1" dirty="0">
              <a:solidFill>
                <a:srgbClr val="000000"/>
              </a:solidFill>
              <a:latin typeface="Arial"/>
            </a:endParaRPr>
          </a:p>
          <a:p>
            <a:pPr marL="342900" indent="-34290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+mj-lt"/>
              <a:buAutoNum type="arabicPeriod" startAt="9"/>
            </a:pPr>
            <a:r>
              <a:rPr lang="en-US" sz="1600" b="0" strike="noStrike" spc="-1" dirty="0">
                <a:solidFill>
                  <a:srgbClr val="172033"/>
                </a:solidFill>
                <a:latin typeface="Times New Roman"/>
                <a:ea typeface="DejaVu Sans"/>
              </a:rPr>
              <a:t>Future work before Assessment 4</a:t>
            </a:r>
            <a:endParaRPr lang="en-US" sz="1600" spc="-1" dirty="0">
              <a:solidFill>
                <a:srgbClr val="000000"/>
              </a:solidFill>
              <a:latin typeface="Arial"/>
            </a:endParaRPr>
          </a:p>
          <a:p>
            <a:pPr marL="342900" indent="-34290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+mj-lt"/>
              <a:buAutoNum type="arabicPeriod" startAt="9"/>
            </a:pPr>
            <a:r>
              <a:rPr lang="en-US" sz="1600" b="0" strike="noStrike" spc="-1" dirty="0">
                <a:solidFill>
                  <a:srgbClr val="172033"/>
                </a:solidFill>
                <a:latin typeface="Times New Roman"/>
                <a:ea typeface="DejaVu Sans"/>
              </a:rPr>
              <a:t>Conclusion and references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1"/>
          <p:cNvSpPr/>
          <p:nvPr/>
        </p:nvSpPr>
        <p:spPr>
          <a:xfrm>
            <a:off x="530280" y="228600"/>
            <a:ext cx="7954560" cy="1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PRT661 · DATA SCIENCE PRACTICE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Box 2"/>
          <p:cNvSpPr/>
          <p:nvPr/>
        </p:nvSpPr>
        <p:spPr>
          <a:xfrm>
            <a:off x="530280" y="511920"/>
            <a:ext cx="10652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Problem and research question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Oval 3"/>
          <p:cNvSpPr/>
          <p:nvPr/>
        </p:nvSpPr>
        <p:spPr>
          <a:xfrm>
            <a:off x="11155680" y="246960"/>
            <a:ext cx="547920" cy="54792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2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Rectangle 4"/>
          <p:cNvSpPr/>
          <p:nvPr/>
        </p:nvSpPr>
        <p:spPr>
          <a:xfrm>
            <a:off x="530280" y="1078920"/>
            <a:ext cx="11154960" cy="22320"/>
          </a:xfrm>
          <a:prstGeom prst="rect">
            <a:avLst/>
          </a:prstGeom>
          <a:solidFill>
            <a:srgbClr val="DCE4E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33" name="TextBox 5"/>
          <p:cNvSpPr/>
          <p:nvPr/>
        </p:nvSpPr>
        <p:spPr>
          <a:xfrm>
            <a:off x="621720" y="1344240"/>
            <a:ext cx="4708440" cy="28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18360" bIns="4500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Early and Late Blight can produce visually confusing leaf symptoms.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Random image splitting can overstate performance when multiple images come from the same leaf.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Question: can leakage-controlled models separate the two labels and retain useful performance on untouched PlantDoc images?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Scope: Early vs Late Blight only; no Healthy, Other, pesticide or treatment output.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Rounded Rectangle 6"/>
          <p:cNvSpPr/>
          <p:nvPr/>
        </p:nvSpPr>
        <p:spPr>
          <a:xfrm>
            <a:off x="5559480" y="1298520"/>
            <a:ext cx="6107400" cy="493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pic>
        <p:nvPicPr>
          <p:cNvPr id="35" name="Picture 7" descr="fit_257_6_sample_images.jpg"/>
          <p:cNvPicPr/>
          <p:nvPr/>
        </p:nvPicPr>
        <p:blipFill>
          <a:blip r:embed="rId3"/>
          <a:stretch/>
        </p:blipFill>
        <p:spPr>
          <a:xfrm>
            <a:off x="5559480" y="2220840"/>
            <a:ext cx="6107400" cy="3092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1"/>
          <p:cNvSpPr/>
          <p:nvPr/>
        </p:nvSpPr>
        <p:spPr>
          <a:xfrm>
            <a:off x="530280" y="228600"/>
            <a:ext cx="7954560" cy="1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PRT661 · DATA SCIENCE PRACTICE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Box 2"/>
          <p:cNvSpPr/>
          <p:nvPr/>
        </p:nvSpPr>
        <p:spPr>
          <a:xfrm>
            <a:off x="530280" y="511920"/>
            <a:ext cx="10652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Balanced dataset and fixed split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Oval 3"/>
          <p:cNvSpPr/>
          <p:nvPr/>
        </p:nvSpPr>
        <p:spPr>
          <a:xfrm>
            <a:off x="11155680" y="246960"/>
            <a:ext cx="547920" cy="54792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3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Rectangle 4"/>
          <p:cNvSpPr/>
          <p:nvPr/>
        </p:nvSpPr>
        <p:spPr>
          <a:xfrm>
            <a:off x="530280" y="1078920"/>
            <a:ext cx="11154960" cy="22320"/>
          </a:xfrm>
          <a:prstGeom prst="rect">
            <a:avLst/>
          </a:prstGeom>
          <a:solidFill>
            <a:srgbClr val="DCE4E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40" name="Rounded Rectangle 5"/>
          <p:cNvSpPr/>
          <p:nvPr/>
        </p:nvSpPr>
        <p:spPr>
          <a:xfrm>
            <a:off x="621720" y="1325880"/>
            <a:ext cx="2586960" cy="1233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41" name="TextBox 6"/>
          <p:cNvSpPr/>
          <p:nvPr/>
        </p:nvSpPr>
        <p:spPr>
          <a:xfrm>
            <a:off x="768240" y="144468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strike="noStrike" spc="-1">
                <a:solidFill>
                  <a:srgbClr val="64748B"/>
                </a:solidFill>
                <a:latin typeface="Times New Roman"/>
                <a:ea typeface="DejaVu Sans"/>
              </a:rPr>
              <a:t>TOTAL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Box 7"/>
          <p:cNvSpPr/>
          <p:nvPr/>
        </p:nvSpPr>
        <p:spPr>
          <a:xfrm>
            <a:off x="768240" y="1719000"/>
            <a:ext cx="2294280" cy="38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2,000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Box 8"/>
          <p:cNvSpPr/>
          <p:nvPr/>
        </p:nvSpPr>
        <p:spPr>
          <a:xfrm>
            <a:off x="768240" y="216720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RGB images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Rounded Rectangle 9"/>
          <p:cNvSpPr/>
          <p:nvPr/>
        </p:nvSpPr>
        <p:spPr>
          <a:xfrm>
            <a:off x="3392280" y="1325880"/>
            <a:ext cx="2586960" cy="1233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45" name="TextBox 10"/>
          <p:cNvSpPr/>
          <p:nvPr/>
        </p:nvSpPr>
        <p:spPr>
          <a:xfrm>
            <a:off x="3538800" y="144468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strike="noStrike" spc="-1">
                <a:solidFill>
                  <a:srgbClr val="64748B"/>
                </a:solidFill>
                <a:latin typeface="Times New Roman"/>
                <a:ea typeface="DejaVu Sans"/>
              </a:rPr>
              <a:t>EARLY BLIGHT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Box 11"/>
          <p:cNvSpPr/>
          <p:nvPr/>
        </p:nvSpPr>
        <p:spPr>
          <a:xfrm>
            <a:off x="3538800" y="1719000"/>
            <a:ext cx="2294280" cy="38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1,000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Box 12"/>
          <p:cNvSpPr/>
          <p:nvPr/>
        </p:nvSpPr>
        <p:spPr>
          <a:xfrm>
            <a:off x="3538800" y="216720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balanced class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Rounded Rectangle 13"/>
          <p:cNvSpPr/>
          <p:nvPr/>
        </p:nvSpPr>
        <p:spPr>
          <a:xfrm>
            <a:off x="6163200" y="1325880"/>
            <a:ext cx="2586960" cy="1233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49" name="TextBox 14"/>
          <p:cNvSpPr/>
          <p:nvPr/>
        </p:nvSpPr>
        <p:spPr>
          <a:xfrm>
            <a:off x="6309360" y="144468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strike="noStrike" spc="-1">
                <a:solidFill>
                  <a:srgbClr val="64748B"/>
                </a:solidFill>
                <a:latin typeface="Times New Roman"/>
                <a:ea typeface="DejaVu Sans"/>
              </a:rPr>
              <a:t>LATE BLIGHT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Box 15"/>
          <p:cNvSpPr/>
          <p:nvPr/>
        </p:nvSpPr>
        <p:spPr>
          <a:xfrm>
            <a:off x="6309360" y="1719000"/>
            <a:ext cx="2294280" cy="38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1,000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16"/>
          <p:cNvSpPr/>
          <p:nvPr/>
        </p:nvSpPr>
        <p:spPr>
          <a:xfrm>
            <a:off x="6309360" y="216720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balanced class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Rounded Rectangle 17"/>
          <p:cNvSpPr/>
          <p:nvPr/>
        </p:nvSpPr>
        <p:spPr>
          <a:xfrm>
            <a:off x="8933760" y="1325880"/>
            <a:ext cx="2586960" cy="1233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53" name="TextBox 18"/>
          <p:cNvSpPr/>
          <p:nvPr/>
        </p:nvSpPr>
        <p:spPr>
          <a:xfrm>
            <a:off x="9079920" y="144468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strike="noStrike" spc="-1">
                <a:solidFill>
                  <a:srgbClr val="64748B"/>
                </a:solidFill>
                <a:latin typeface="Times New Roman"/>
                <a:ea typeface="DejaVu Sans"/>
              </a:rPr>
              <a:t>LEAF GROUPS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19"/>
          <p:cNvSpPr/>
          <p:nvPr/>
        </p:nvSpPr>
        <p:spPr>
          <a:xfrm>
            <a:off x="9079920" y="1719000"/>
            <a:ext cx="2294280" cy="38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500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20"/>
          <p:cNvSpPr/>
          <p:nvPr/>
        </p:nvSpPr>
        <p:spPr>
          <a:xfrm>
            <a:off x="9079920" y="216720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group-aware audit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Rounded Rectangle 21"/>
          <p:cNvSpPr/>
          <p:nvPr/>
        </p:nvSpPr>
        <p:spPr>
          <a:xfrm>
            <a:off x="640080" y="2770560"/>
            <a:ext cx="10972080" cy="327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57" name="Rounded Rectangle 23"/>
          <p:cNvSpPr/>
          <p:nvPr/>
        </p:nvSpPr>
        <p:spPr>
          <a:xfrm>
            <a:off x="868680" y="6234120"/>
            <a:ext cx="9955800" cy="45648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9360">
            <a:solidFill>
              <a:srgbClr val="B4530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58" name="Rectangle 24"/>
          <p:cNvSpPr/>
          <p:nvPr/>
        </p:nvSpPr>
        <p:spPr>
          <a:xfrm>
            <a:off x="868680" y="6224400"/>
            <a:ext cx="59760" cy="456480"/>
          </a:xfrm>
          <a:prstGeom prst="rect">
            <a:avLst/>
          </a:prstGeom>
          <a:solidFill>
            <a:srgbClr val="B45309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59" name="TextBox 25"/>
          <p:cNvSpPr/>
          <p:nvPr/>
        </p:nvSpPr>
        <p:spPr>
          <a:xfrm>
            <a:off x="1042560" y="6363000"/>
            <a:ext cx="967896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Train / validation / test = 1,400 / 300 / 300 · 350 / 75 / 75 disjoint leaf groups · zero shared groups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Picture 28" descr="fit_258_21_class_distribution.jpg"/>
          <p:cNvPicPr/>
          <p:nvPr/>
        </p:nvPicPr>
        <p:blipFill>
          <a:blip r:embed="rId3"/>
          <a:stretch/>
        </p:blipFill>
        <p:spPr>
          <a:xfrm>
            <a:off x="3643920" y="2770560"/>
            <a:ext cx="4964400" cy="3272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530280" y="228600"/>
            <a:ext cx="7954560" cy="1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PRT661 · DATA SCIENCE PRACTICE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530280" y="511920"/>
            <a:ext cx="10652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Implemented workflow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Oval 3"/>
          <p:cNvSpPr/>
          <p:nvPr/>
        </p:nvSpPr>
        <p:spPr>
          <a:xfrm>
            <a:off x="11155680" y="246960"/>
            <a:ext cx="547920" cy="54792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4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Rectangle 4"/>
          <p:cNvSpPr/>
          <p:nvPr/>
        </p:nvSpPr>
        <p:spPr>
          <a:xfrm>
            <a:off x="530280" y="1078920"/>
            <a:ext cx="11154960" cy="22320"/>
          </a:xfrm>
          <a:prstGeom prst="rect">
            <a:avLst/>
          </a:prstGeom>
          <a:solidFill>
            <a:srgbClr val="DCE4E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65" name="Rounded Rectangle 5"/>
          <p:cNvSpPr/>
          <p:nvPr/>
        </p:nvSpPr>
        <p:spPr>
          <a:xfrm>
            <a:off x="640080" y="1417320"/>
            <a:ext cx="2605320" cy="155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66" name="Oval 6"/>
          <p:cNvSpPr/>
          <p:nvPr/>
        </p:nvSpPr>
        <p:spPr>
          <a:xfrm>
            <a:off x="777240" y="1563480"/>
            <a:ext cx="392400" cy="39240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1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1261800" y="1554480"/>
            <a:ext cx="1828080" cy="23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Audit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795600" y="2057400"/>
            <a:ext cx="2294280" cy="1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Folders, classes, dimensions and files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Rounded Rectangle 9"/>
          <p:cNvSpPr/>
          <p:nvPr/>
        </p:nvSpPr>
        <p:spPr>
          <a:xfrm>
            <a:off x="3474720" y="1417320"/>
            <a:ext cx="2605320" cy="155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70" name="Oval 10"/>
          <p:cNvSpPr/>
          <p:nvPr/>
        </p:nvSpPr>
        <p:spPr>
          <a:xfrm>
            <a:off x="3611880" y="1563480"/>
            <a:ext cx="392400" cy="39240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2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4096440" y="1554480"/>
            <a:ext cx="1828080" cy="23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Split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3630240" y="2057400"/>
            <a:ext cx="2294280" cy="1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Group-disjoint 350 / 75 / 75 leaf groups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Rounded Rectangle 13"/>
          <p:cNvSpPr/>
          <p:nvPr/>
        </p:nvSpPr>
        <p:spPr>
          <a:xfrm>
            <a:off x="6309360" y="1417320"/>
            <a:ext cx="2605320" cy="155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74" name="Oval 14"/>
          <p:cNvSpPr/>
          <p:nvPr/>
        </p:nvSpPr>
        <p:spPr>
          <a:xfrm>
            <a:off x="6446520" y="1563480"/>
            <a:ext cx="392400" cy="39240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3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Box 15"/>
          <p:cNvSpPr/>
          <p:nvPr/>
        </p:nvSpPr>
        <p:spPr>
          <a:xfrm>
            <a:off x="6931080" y="1554480"/>
            <a:ext cx="1828080" cy="23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Transform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16"/>
          <p:cNvSpPr/>
          <p:nvPr/>
        </p:nvSpPr>
        <p:spPr>
          <a:xfrm>
            <a:off x="6464880" y="2057400"/>
            <a:ext cx="2294280" cy="1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224×224; training-only augmentation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ounded Rectangle 17"/>
          <p:cNvSpPr/>
          <p:nvPr/>
        </p:nvSpPr>
        <p:spPr>
          <a:xfrm>
            <a:off x="9144000" y="1417320"/>
            <a:ext cx="2605320" cy="155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78" name="Oval 18"/>
          <p:cNvSpPr/>
          <p:nvPr/>
        </p:nvSpPr>
        <p:spPr>
          <a:xfrm>
            <a:off x="9281160" y="1563480"/>
            <a:ext cx="392400" cy="39240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4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Box 19"/>
          <p:cNvSpPr/>
          <p:nvPr/>
        </p:nvSpPr>
        <p:spPr>
          <a:xfrm>
            <a:off x="9765720" y="1554480"/>
            <a:ext cx="1828080" cy="23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Train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20"/>
          <p:cNvSpPr/>
          <p:nvPr/>
        </p:nvSpPr>
        <p:spPr>
          <a:xfrm>
            <a:off x="9299520" y="2057400"/>
            <a:ext cx="2294280" cy="1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Logistic + PotatoCNN + MobileNetV2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ounded Rectangle 21"/>
          <p:cNvSpPr/>
          <p:nvPr/>
        </p:nvSpPr>
        <p:spPr>
          <a:xfrm>
            <a:off x="640080" y="3447360"/>
            <a:ext cx="2605320" cy="155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82" name="Oval 22"/>
          <p:cNvSpPr/>
          <p:nvPr/>
        </p:nvSpPr>
        <p:spPr>
          <a:xfrm>
            <a:off x="777240" y="3593520"/>
            <a:ext cx="392400" cy="39240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5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Box 23"/>
          <p:cNvSpPr/>
          <p:nvPr/>
        </p:nvSpPr>
        <p:spPr>
          <a:xfrm>
            <a:off x="1261800" y="3584520"/>
            <a:ext cx="1828080" cy="23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Select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24"/>
          <p:cNvSpPr/>
          <p:nvPr/>
        </p:nvSpPr>
        <p:spPr>
          <a:xfrm>
            <a:off x="795600" y="4087440"/>
            <a:ext cx="2294280" cy="1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Validation-only checkpoints + thresholds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ounded Rectangle 25"/>
          <p:cNvSpPr/>
          <p:nvPr/>
        </p:nvSpPr>
        <p:spPr>
          <a:xfrm>
            <a:off x="3474720" y="3447360"/>
            <a:ext cx="2605320" cy="155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86" name="Oval 26"/>
          <p:cNvSpPr/>
          <p:nvPr/>
        </p:nvSpPr>
        <p:spPr>
          <a:xfrm>
            <a:off x="3611880" y="3593520"/>
            <a:ext cx="392400" cy="39240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6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Box 27"/>
          <p:cNvSpPr/>
          <p:nvPr/>
        </p:nvSpPr>
        <p:spPr>
          <a:xfrm>
            <a:off x="4096440" y="3584520"/>
            <a:ext cx="1828080" cy="23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Test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28"/>
          <p:cNvSpPr/>
          <p:nvPr/>
        </p:nvSpPr>
        <p:spPr>
          <a:xfrm>
            <a:off x="3630240" y="4087440"/>
            <a:ext cx="2294280" cy="35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Locked PlantVillage + untouched PlantDoc tests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ounded Rectangle 29"/>
          <p:cNvSpPr/>
          <p:nvPr/>
        </p:nvSpPr>
        <p:spPr>
          <a:xfrm>
            <a:off x="6309360" y="3447360"/>
            <a:ext cx="2605320" cy="155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90" name="Oval 30"/>
          <p:cNvSpPr/>
          <p:nvPr/>
        </p:nvSpPr>
        <p:spPr>
          <a:xfrm>
            <a:off x="6446520" y="3593520"/>
            <a:ext cx="392400" cy="39240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7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Box 31"/>
          <p:cNvSpPr/>
          <p:nvPr/>
        </p:nvSpPr>
        <p:spPr>
          <a:xfrm>
            <a:off x="6931080" y="3584520"/>
            <a:ext cx="1828080" cy="23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Diagnose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32"/>
          <p:cNvSpPr/>
          <p:nvPr/>
        </p:nvSpPr>
        <p:spPr>
          <a:xfrm>
            <a:off x="6464880" y="4087440"/>
            <a:ext cx="2294280" cy="35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Errors, XAI, calibration, robustness and McNemar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ounded Rectangle 33"/>
          <p:cNvSpPr/>
          <p:nvPr/>
        </p:nvSpPr>
        <p:spPr>
          <a:xfrm>
            <a:off x="9144000" y="3447360"/>
            <a:ext cx="2605320" cy="1553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94" name="Oval 34"/>
          <p:cNvSpPr/>
          <p:nvPr/>
        </p:nvSpPr>
        <p:spPr>
          <a:xfrm>
            <a:off x="9281160" y="3593520"/>
            <a:ext cx="392400" cy="39240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8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Box 35"/>
          <p:cNvSpPr/>
          <p:nvPr/>
        </p:nvSpPr>
        <p:spPr>
          <a:xfrm>
            <a:off x="9765720" y="3584520"/>
            <a:ext cx="1828080" cy="234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Communicate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36"/>
          <p:cNvSpPr/>
          <p:nvPr/>
        </p:nvSpPr>
        <p:spPr>
          <a:xfrm>
            <a:off x="9299520" y="4087440"/>
            <a:ext cx="2294280" cy="19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Versioned evidence interface and report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530280" y="228600"/>
            <a:ext cx="7954560" cy="1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PRT661 · DATA SCIENCE PRACTICE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530280" y="511920"/>
            <a:ext cx="10652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Three-model design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Oval 3"/>
          <p:cNvSpPr/>
          <p:nvPr/>
        </p:nvSpPr>
        <p:spPr>
          <a:xfrm>
            <a:off x="11155680" y="246960"/>
            <a:ext cx="547920" cy="54792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5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Rectangle 4"/>
          <p:cNvSpPr/>
          <p:nvPr/>
        </p:nvSpPr>
        <p:spPr>
          <a:xfrm>
            <a:off x="530280" y="1078920"/>
            <a:ext cx="11154960" cy="22320"/>
          </a:xfrm>
          <a:prstGeom prst="rect">
            <a:avLst/>
          </a:prstGeom>
          <a:solidFill>
            <a:srgbClr val="DCE4E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01" name="TextBox 5"/>
          <p:cNvSpPr/>
          <p:nvPr/>
        </p:nvSpPr>
        <p:spPr>
          <a:xfrm>
            <a:off x="621720" y="1344240"/>
            <a:ext cx="4708440" cy="2610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18360" bIns="4500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Logistic grayscale baseline · traditional reference · threshold 0.70.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PotatoCNN · 93,377 parameters · 224×224 RGB · threshold 0.38.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MobileNetV2 · ImageNet transfer learning with staged fine-tuning · threshold 0.64.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All operating thresholds were selected from validation data before test evaluation.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ounded Rectangle 6"/>
          <p:cNvSpPr/>
          <p:nvPr/>
        </p:nvSpPr>
        <p:spPr>
          <a:xfrm>
            <a:off x="5559480" y="1298520"/>
            <a:ext cx="6107400" cy="493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pic>
        <p:nvPicPr>
          <p:cNvPr id="103" name="Picture 10" descr="fit_260_6_final_model_comparison.jpg"/>
          <p:cNvPicPr/>
          <p:nvPr/>
        </p:nvPicPr>
        <p:blipFill>
          <a:blip r:embed="rId3"/>
          <a:stretch/>
        </p:blipFill>
        <p:spPr>
          <a:xfrm>
            <a:off x="5559480" y="2048400"/>
            <a:ext cx="6107400" cy="3436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"/>
          <p:cNvSpPr/>
          <p:nvPr/>
        </p:nvSpPr>
        <p:spPr>
          <a:xfrm>
            <a:off x="530280" y="228600"/>
            <a:ext cx="7954560" cy="1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PRT661 · DATA SCIENCE PRACTICE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530280" y="511920"/>
            <a:ext cx="10652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MobileNetV2 training and checkpoint selection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Oval 3"/>
          <p:cNvSpPr/>
          <p:nvPr/>
        </p:nvSpPr>
        <p:spPr>
          <a:xfrm>
            <a:off x="11155680" y="246960"/>
            <a:ext cx="547920" cy="54792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6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Rectangle 4"/>
          <p:cNvSpPr/>
          <p:nvPr/>
        </p:nvSpPr>
        <p:spPr>
          <a:xfrm>
            <a:off x="530280" y="1078920"/>
            <a:ext cx="11154960" cy="22320"/>
          </a:xfrm>
          <a:prstGeom prst="rect">
            <a:avLst/>
          </a:prstGeom>
          <a:solidFill>
            <a:srgbClr val="DCE4E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08" name="Rounded Rectangle 5"/>
          <p:cNvSpPr/>
          <p:nvPr/>
        </p:nvSpPr>
        <p:spPr>
          <a:xfrm>
            <a:off x="621720" y="1325880"/>
            <a:ext cx="2586960" cy="1233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09" name="TextBox 6"/>
          <p:cNvSpPr/>
          <p:nvPr/>
        </p:nvSpPr>
        <p:spPr>
          <a:xfrm>
            <a:off x="768240" y="144468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strike="noStrike" spc="-1">
                <a:solidFill>
                  <a:srgbClr val="64748B"/>
                </a:solidFill>
                <a:latin typeface="Times New Roman"/>
                <a:ea typeface="DejaVu Sans"/>
              </a:rPr>
              <a:t>EPOCHS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7"/>
          <p:cNvSpPr/>
          <p:nvPr/>
        </p:nvSpPr>
        <p:spPr>
          <a:xfrm>
            <a:off x="768240" y="1719000"/>
            <a:ext cx="2294280" cy="38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8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8"/>
          <p:cNvSpPr/>
          <p:nvPr/>
        </p:nvSpPr>
        <p:spPr>
          <a:xfrm>
            <a:off x="768240" y="216720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head + fine-tune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ounded Rectangle 9"/>
          <p:cNvSpPr/>
          <p:nvPr/>
        </p:nvSpPr>
        <p:spPr>
          <a:xfrm>
            <a:off x="3392280" y="1325880"/>
            <a:ext cx="2586960" cy="1233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3538800" y="144468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strike="noStrike" spc="-1">
                <a:solidFill>
                  <a:srgbClr val="64748B"/>
                </a:solidFill>
                <a:latin typeface="Times New Roman"/>
                <a:ea typeface="DejaVu Sans"/>
              </a:rPr>
              <a:t>BEST VAL F1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11"/>
          <p:cNvSpPr/>
          <p:nvPr/>
        </p:nvSpPr>
        <p:spPr>
          <a:xfrm>
            <a:off x="3538800" y="1719000"/>
            <a:ext cx="2294280" cy="38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0.9967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12"/>
          <p:cNvSpPr/>
          <p:nvPr/>
        </p:nvSpPr>
        <p:spPr>
          <a:xfrm>
            <a:off x="3538800" y="216720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epoch 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ounded Rectangle 13"/>
          <p:cNvSpPr/>
          <p:nvPr/>
        </p:nvSpPr>
        <p:spPr>
          <a:xfrm>
            <a:off x="6163200" y="1325880"/>
            <a:ext cx="2586960" cy="1233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17" name="TextBox 14"/>
          <p:cNvSpPr/>
          <p:nvPr/>
        </p:nvSpPr>
        <p:spPr>
          <a:xfrm>
            <a:off x="6309360" y="144468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strike="noStrike" spc="-1">
                <a:solidFill>
                  <a:srgbClr val="64748B"/>
                </a:solidFill>
                <a:latin typeface="Times New Roman"/>
                <a:ea typeface="DejaVu Sans"/>
              </a:rPr>
              <a:t>VAL LOSS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15"/>
          <p:cNvSpPr/>
          <p:nvPr/>
        </p:nvSpPr>
        <p:spPr>
          <a:xfrm>
            <a:off x="6309360" y="1719000"/>
            <a:ext cx="2294280" cy="38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0.0169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16"/>
          <p:cNvSpPr/>
          <p:nvPr/>
        </p:nvSpPr>
        <p:spPr>
          <a:xfrm>
            <a:off x="6309360" y="216720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final fine-tune stage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ounded Rectangle 17"/>
          <p:cNvSpPr/>
          <p:nvPr/>
        </p:nvSpPr>
        <p:spPr>
          <a:xfrm>
            <a:off x="8933760" y="1325880"/>
            <a:ext cx="2586960" cy="1233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21" name="TextBox 18"/>
          <p:cNvSpPr/>
          <p:nvPr/>
        </p:nvSpPr>
        <p:spPr>
          <a:xfrm>
            <a:off x="9079920" y="144468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strike="noStrike" spc="-1">
                <a:solidFill>
                  <a:srgbClr val="64748B"/>
                </a:solidFill>
                <a:latin typeface="Times New Roman"/>
                <a:ea typeface="DejaVu Sans"/>
              </a:rPr>
              <a:t>LOCKED THRESHOLD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19"/>
          <p:cNvSpPr/>
          <p:nvPr/>
        </p:nvSpPr>
        <p:spPr>
          <a:xfrm>
            <a:off x="9079920" y="1719000"/>
            <a:ext cx="2294280" cy="38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0.64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20"/>
          <p:cNvSpPr/>
          <p:nvPr/>
        </p:nvSpPr>
        <p:spPr>
          <a:xfrm>
            <a:off x="9079920" y="216720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validation-only selection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ounded Rectangle 21"/>
          <p:cNvSpPr/>
          <p:nvPr/>
        </p:nvSpPr>
        <p:spPr>
          <a:xfrm>
            <a:off x="640080" y="2770560"/>
            <a:ext cx="10972080" cy="327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pic>
        <p:nvPicPr>
          <p:cNvPr id="125" name="Picture 22" descr="fit_261_21_mobilenet_training_history.jpg"/>
          <p:cNvPicPr/>
          <p:nvPr/>
        </p:nvPicPr>
        <p:blipFill>
          <a:blip r:embed="rId3"/>
          <a:stretch/>
        </p:blipFill>
        <p:spPr>
          <a:xfrm>
            <a:off x="1536120" y="2770560"/>
            <a:ext cx="9180000" cy="3272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/>
          <p:nvPr/>
        </p:nvSpPr>
        <p:spPr>
          <a:xfrm>
            <a:off x="530280" y="228600"/>
            <a:ext cx="7954560" cy="1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PRT661 · DATA SCIENCE PRACTICE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530280" y="511920"/>
            <a:ext cx="10652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Primary MobileNetV2 held-out result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Oval 3"/>
          <p:cNvSpPr/>
          <p:nvPr/>
        </p:nvSpPr>
        <p:spPr>
          <a:xfrm>
            <a:off x="11155680" y="246960"/>
            <a:ext cx="547920" cy="54792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7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Rectangle 4"/>
          <p:cNvSpPr/>
          <p:nvPr/>
        </p:nvSpPr>
        <p:spPr>
          <a:xfrm>
            <a:off x="530280" y="1078920"/>
            <a:ext cx="11154960" cy="22320"/>
          </a:xfrm>
          <a:prstGeom prst="rect">
            <a:avLst/>
          </a:prstGeom>
          <a:solidFill>
            <a:srgbClr val="DCE4E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30" name="Rounded Rectangle 5"/>
          <p:cNvSpPr/>
          <p:nvPr/>
        </p:nvSpPr>
        <p:spPr>
          <a:xfrm>
            <a:off x="621720" y="1325880"/>
            <a:ext cx="2586960" cy="1233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31" name="TextBox 6"/>
          <p:cNvSpPr/>
          <p:nvPr/>
        </p:nvSpPr>
        <p:spPr>
          <a:xfrm>
            <a:off x="768240" y="144468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strike="noStrike" spc="-1">
                <a:solidFill>
                  <a:srgbClr val="64748B"/>
                </a:solidFill>
                <a:latin typeface="Times New Roman"/>
                <a:ea typeface="DejaVu Sans"/>
              </a:rPr>
              <a:t>ACCURACY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7"/>
          <p:cNvSpPr/>
          <p:nvPr/>
        </p:nvSpPr>
        <p:spPr>
          <a:xfrm>
            <a:off x="768240" y="1719000"/>
            <a:ext cx="2294280" cy="38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99.67%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8"/>
          <p:cNvSpPr/>
          <p:nvPr/>
        </p:nvSpPr>
        <p:spPr>
          <a:xfrm>
            <a:off x="768240" y="216720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299 / 300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ounded Rectangle 9"/>
          <p:cNvSpPr/>
          <p:nvPr/>
        </p:nvSpPr>
        <p:spPr>
          <a:xfrm>
            <a:off x="3392280" y="1325880"/>
            <a:ext cx="2586960" cy="1233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35" name="TextBox 10"/>
          <p:cNvSpPr/>
          <p:nvPr/>
        </p:nvSpPr>
        <p:spPr>
          <a:xfrm>
            <a:off x="3538800" y="144468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strike="noStrike" spc="-1">
                <a:solidFill>
                  <a:srgbClr val="64748B"/>
                </a:solidFill>
                <a:latin typeface="Times New Roman"/>
                <a:ea typeface="DejaVu Sans"/>
              </a:rPr>
              <a:t>PRECISION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11"/>
          <p:cNvSpPr/>
          <p:nvPr/>
        </p:nvSpPr>
        <p:spPr>
          <a:xfrm>
            <a:off x="3538800" y="1719000"/>
            <a:ext cx="2294280" cy="38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100.00%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12"/>
          <p:cNvSpPr/>
          <p:nvPr/>
        </p:nvSpPr>
        <p:spPr>
          <a:xfrm>
            <a:off x="3538800" y="216720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Late-Blight predictions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ounded Rectangle 13"/>
          <p:cNvSpPr/>
          <p:nvPr/>
        </p:nvSpPr>
        <p:spPr>
          <a:xfrm>
            <a:off x="6163200" y="1325880"/>
            <a:ext cx="2586960" cy="1233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39" name="TextBox 14"/>
          <p:cNvSpPr/>
          <p:nvPr/>
        </p:nvSpPr>
        <p:spPr>
          <a:xfrm>
            <a:off x="6309360" y="144468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strike="noStrike" spc="-1">
                <a:solidFill>
                  <a:srgbClr val="64748B"/>
                </a:solidFill>
                <a:latin typeface="Times New Roman"/>
                <a:ea typeface="DejaVu Sans"/>
              </a:rPr>
              <a:t>RECALL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15"/>
          <p:cNvSpPr/>
          <p:nvPr/>
        </p:nvSpPr>
        <p:spPr>
          <a:xfrm>
            <a:off x="6309360" y="1719000"/>
            <a:ext cx="2294280" cy="38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99.32%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16"/>
          <p:cNvSpPr/>
          <p:nvPr/>
        </p:nvSpPr>
        <p:spPr>
          <a:xfrm>
            <a:off x="6309360" y="216720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147 / 148 Late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ounded Rectangle 17"/>
          <p:cNvSpPr/>
          <p:nvPr/>
        </p:nvSpPr>
        <p:spPr>
          <a:xfrm>
            <a:off x="8933760" y="1325880"/>
            <a:ext cx="2586960" cy="1233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43" name="TextBox 18"/>
          <p:cNvSpPr/>
          <p:nvPr/>
        </p:nvSpPr>
        <p:spPr>
          <a:xfrm>
            <a:off x="9079920" y="144468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strike="noStrike" spc="-1">
                <a:solidFill>
                  <a:srgbClr val="64748B"/>
                </a:solidFill>
                <a:latin typeface="Times New Roman"/>
                <a:ea typeface="DejaVu Sans"/>
              </a:rPr>
              <a:t>ROC–AUC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19"/>
          <p:cNvSpPr/>
          <p:nvPr/>
        </p:nvSpPr>
        <p:spPr>
          <a:xfrm>
            <a:off x="9079920" y="1719000"/>
            <a:ext cx="2294280" cy="38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1.0000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20"/>
          <p:cNvSpPr/>
          <p:nvPr/>
        </p:nvSpPr>
        <p:spPr>
          <a:xfrm>
            <a:off x="9079920" y="216720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group-isolated internal set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ounded Rectangle 21"/>
          <p:cNvSpPr/>
          <p:nvPr/>
        </p:nvSpPr>
        <p:spPr>
          <a:xfrm>
            <a:off x="640080" y="2770560"/>
            <a:ext cx="10972080" cy="3272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47" name="Rounded Rectangle 23"/>
          <p:cNvSpPr/>
          <p:nvPr/>
        </p:nvSpPr>
        <p:spPr>
          <a:xfrm>
            <a:off x="868680" y="6234120"/>
            <a:ext cx="10514880" cy="45648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9360">
            <a:solidFill>
              <a:srgbClr val="B4530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48" name="Rectangle 24"/>
          <p:cNvSpPr/>
          <p:nvPr/>
        </p:nvSpPr>
        <p:spPr>
          <a:xfrm>
            <a:off x="868680" y="6224400"/>
            <a:ext cx="63360" cy="456480"/>
          </a:xfrm>
          <a:prstGeom prst="rect">
            <a:avLst/>
          </a:prstGeom>
          <a:solidFill>
            <a:srgbClr val="B45309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49" name="TextBox 25"/>
          <p:cNvSpPr/>
          <p:nvPr/>
        </p:nvSpPr>
        <p:spPr>
          <a:xfrm>
            <a:off x="1042560" y="6363000"/>
            <a:ext cx="1022220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One error: 1 Late→Early · 0 Early→Late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0" name="Picture 26" descr="fit_262_21_mobilenet_confusion_matrix.jpg"/>
          <p:cNvPicPr/>
          <p:nvPr/>
        </p:nvPicPr>
        <p:blipFill>
          <a:blip r:embed="rId3"/>
          <a:stretch/>
        </p:blipFill>
        <p:spPr>
          <a:xfrm>
            <a:off x="4048560" y="2770560"/>
            <a:ext cx="4155120" cy="32727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"/>
          <p:cNvSpPr/>
          <p:nvPr/>
        </p:nvSpPr>
        <p:spPr>
          <a:xfrm>
            <a:off x="530280" y="228600"/>
            <a:ext cx="7954560" cy="1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PRT661 · DATA SCIENCE PRACTICE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530280" y="511920"/>
            <a:ext cx="10652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Untouched PlantDoc external evaluation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Oval 3"/>
          <p:cNvSpPr/>
          <p:nvPr/>
        </p:nvSpPr>
        <p:spPr>
          <a:xfrm>
            <a:off x="11155680" y="246960"/>
            <a:ext cx="547920" cy="54792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8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Rectangle 4"/>
          <p:cNvSpPr/>
          <p:nvPr/>
        </p:nvSpPr>
        <p:spPr>
          <a:xfrm>
            <a:off x="530280" y="1078920"/>
            <a:ext cx="11154960" cy="22320"/>
          </a:xfrm>
          <a:prstGeom prst="rect">
            <a:avLst/>
          </a:prstGeom>
          <a:solidFill>
            <a:srgbClr val="DCE4E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2586240" y="1362960"/>
            <a:ext cx="7243200" cy="206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18360" bIns="4500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222 external PlantDoc images were evaluated with no fitting, retuning or threshold selection.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MobileNetV2: accuracy 0.5856 · Late F1 0.4831 · ROC–AUC 0.6210.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PotatoCNN: accuracy 0.5135 · Late F1 0.1290; logistic accuracy 0.4865.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The large internal-to-external drop defines the main domain-generalisation limitation.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Rounded Rectangle 6"/>
          <p:cNvSpPr/>
          <p:nvPr/>
        </p:nvSpPr>
        <p:spPr>
          <a:xfrm>
            <a:off x="1032480" y="3507480"/>
            <a:ext cx="10182240" cy="271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pic>
        <p:nvPicPr>
          <p:cNvPr id="157" name="Picture 7" descr="fit_263_6_plantdoc_external_confusion_matrices.jpg"/>
          <p:cNvPicPr/>
          <p:nvPr/>
        </p:nvPicPr>
        <p:blipFill>
          <a:blip r:embed="rId3"/>
          <a:stretch/>
        </p:blipFill>
        <p:spPr>
          <a:xfrm>
            <a:off x="1068480" y="3879360"/>
            <a:ext cx="10182240" cy="2131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"/>
          <p:cNvSpPr/>
          <p:nvPr/>
        </p:nvSpPr>
        <p:spPr>
          <a:xfrm>
            <a:off x="627120" y="228600"/>
            <a:ext cx="7857720" cy="1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PRT661 · DATA SCIENCE PRACTICE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2"/>
          <p:cNvSpPr/>
          <p:nvPr/>
        </p:nvSpPr>
        <p:spPr>
          <a:xfrm>
            <a:off x="659880" y="511920"/>
            <a:ext cx="105224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Explainability and internal error review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Oval 3"/>
          <p:cNvSpPr/>
          <p:nvPr/>
        </p:nvSpPr>
        <p:spPr>
          <a:xfrm>
            <a:off x="11162520" y="246960"/>
            <a:ext cx="541080" cy="54792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9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Rectangle 4"/>
          <p:cNvSpPr/>
          <p:nvPr/>
        </p:nvSpPr>
        <p:spPr>
          <a:xfrm>
            <a:off x="666000" y="1078920"/>
            <a:ext cx="11019240" cy="22320"/>
          </a:xfrm>
          <a:prstGeom prst="rect">
            <a:avLst/>
          </a:prstGeom>
          <a:solidFill>
            <a:srgbClr val="DCE4E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62" name="TextBox 5"/>
          <p:cNvSpPr/>
          <p:nvPr/>
        </p:nvSpPr>
        <p:spPr>
          <a:xfrm>
            <a:off x="678960" y="2119680"/>
            <a:ext cx="4651200" cy="2610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18360" bIns="4500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Grad-CAM highlights regions influencing the class score in representative cases.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Attention often overlaps lesions but can also include edges, background and broad leaf structure.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PCA/t-SNE provide exploratory feature-separation views inside the controlled source.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Heatmaps are diagnostic evidence—not pathogen confirmation or causal lesion localisation.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ounded Rectangle 6"/>
          <p:cNvSpPr/>
          <p:nvPr/>
        </p:nvSpPr>
        <p:spPr>
          <a:xfrm>
            <a:off x="5961240" y="1183680"/>
            <a:ext cx="4886640" cy="5556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pic>
        <p:nvPicPr>
          <p:cNvPr id="164" name="Picture 7" descr="fit_264_6_gradcam_predicted_class.jpg"/>
          <p:cNvPicPr/>
          <p:nvPr/>
        </p:nvPicPr>
        <p:blipFill>
          <a:blip r:embed="rId3"/>
          <a:stretch/>
        </p:blipFill>
        <p:spPr>
          <a:xfrm rot="22800">
            <a:off x="6618600" y="1212120"/>
            <a:ext cx="3430440" cy="5477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Box 1"/>
          <p:cNvSpPr/>
          <p:nvPr/>
        </p:nvSpPr>
        <p:spPr>
          <a:xfrm>
            <a:off x="530280" y="228600"/>
            <a:ext cx="7954560" cy="1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PRT661 · DATA SCIENCE PRACTICE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2"/>
          <p:cNvSpPr/>
          <p:nvPr/>
        </p:nvSpPr>
        <p:spPr>
          <a:xfrm>
            <a:off x="530280" y="511920"/>
            <a:ext cx="10652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Validation thresholds and paired evidence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Oval 3"/>
          <p:cNvSpPr/>
          <p:nvPr/>
        </p:nvSpPr>
        <p:spPr>
          <a:xfrm>
            <a:off x="11155680" y="246960"/>
            <a:ext cx="547920" cy="54792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10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Rectangle 4"/>
          <p:cNvSpPr/>
          <p:nvPr/>
        </p:nvSpPr>
        <p:spPr>
          <a:xfrm>
            <a:off x="530280" y="1078920"/>
            <a:ext cx="11154960" cy="22320"/>
          </a:xfrm>
          <a:prstGeom prst="rect">
            <a:avLst/>
          </a:prstGeom>
          <a:solidFill>
            <a:srgbClr val="DCE4E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69" name="TextBox 5"/>
          <p:cNvSpPr/>
          <p:nvPr/>
        </p:nvSpPr>
        <p:spPr>
          <a:xfrm>
            <a:off x="621720" y="2257200"/>
            <a:ext cx="4708440" cy="2610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18360" bIns="4500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Locked thresholds: logistic 0.70 · PotatoCNN 0.38 · MobileNetV2 0.64.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PotatoCNN threshold 0.38 was selected from validation data only; no PlantDoc tuning.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McNemar: Logistic vs MobileNetV2 p=2.16×10⁻⁷; PotatoCNN vs MobileNetV2 p=0.00098.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Threshold curves are diagnostic evidence, not permission for test-set optimisation.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ounded Rectangle 6"/>
          <p:cNvSpPr/>
          <p:nvPr/>
        </p:nvSpPr>
        <p:spPr>
          <a:xfrm>
            <a:off x="5559480" y="1298520"/>
            <a:ext cx="6107400" cy="493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pic>
        <p:nvPicPr>
          <p:cNvPr id="171" name="Picture 7" descr="fit_265_6_threshold_analysis.jpg"/>
          <p:cNvPicPr/>
          <p:nvPr/>
        </p:nvPicPr>
        <p:blipFill>
          <a:blip r:embed="rId3"/>
          <a:stretch/>
        </p:blipFill>
        <p:spPr>
          <a:xfrm>
            <a:off x="5559480" y="2264760"/>
            <a:ext cx="6107400" cy="3004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1"/>
          <p:cNvSpPr/>
          <p:nvPr/>
        </p:nvSpPr>
        <p:spPr>
          <a:xfrm>
            <a:off x="530280" y="228600"/>
            <a:ext cx="7954560" cy="1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PRT661 · DATA SCIENCE PRACTICE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530280" y="511920"/>
            <a:ext cx="10652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Segmentation exposed a probability shift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Oval 3"/>
          <p:cNvSpPr/>
          <p:nvPr/>
        </p:nvSpPr>
        <p:spPr>
          <a:xfrm>
            <a:off x="11155680" y="246960"/>
            <a:ext cx="547920" cy="54792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11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Rectangle 4"/>
          <p:cNvSpPr/>
          <p:nvPr/>
        </p:nvSpPr>
        <p:spPr>
          <a:xfrm>
            <a:off x="530280" y="1078920"/>
            <a:ext cx="11154960" cy="22320"/>
          </a:xfrm>
          <a:prstGeom prst="rect">
            <a:avLst/>
          </a:prstGeom>
          <a:solidFill>
            <a:srgbClr val="DCE4E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76" name="TextBox 5"/>
          <p:cNvSpPr/>
          <p:nvPr/>
        </p:nvSpPr>
        <p:spPr>
          <a:xfrm>
            <a:off x="621720" y="2595600"/>
            <a:ext cx="4708440" cy="2610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18360" bIns="4500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At the ordinary 0.50 rule, segmented images produced no Late-Blight decisions.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Segmented ROC–AUC remained 0.9566 despite the probability-scale shift.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A threshold selected only on segmented validation recovered accuracy 0.8800 and F1 0.8784.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Preprocessing + model + threshold must be validated and versioned as one system.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ounded Rectangle 6"/>
          <p:cNvSpPr/>
          <p:nvPr/>
        </p:nvSpPr>
        <p:spPr>
          <a:xfrm>
            <a:off x="5559480" y="1298520"/>
            <a:ext cx="6107400" cy="493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pic>
        <p:nvPicPr>
          <p:cNvPr id="178" name="Picture 7" descr="fit_266_6_original_vs_segmented.jpg"/>
          <p:cNvPicPr/>
          <p:nvPr/>
        </p:nvPicPr>
        <p:blipFill>
          <a:blip r:embed="rId3"/>
          <a:stretch/>
        </p:blipFill>
        <p:spPr>
          <a:xfrm>
            <a:off x="5559480" y="2264760"/>
            <a:ext cx="6107400" cy="3004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 1"/>
          <p:cNvSpPr/>
          <p:nvPr/>
        </p:nvSpPr>
        <p:spPr>
          <a:xfrm>
            <a:off x="530280" y="228600"/>
            <a:ext cx="7954560" cy="1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PRT661 · DATA SCIENCE PRACTICE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2"/>
          <p:cNvSpPr/>
          <p:nvPr/>
        </p:nvSpPr>
        <p:spPr>
          <a:xfrm>
            <a:off x="530280" y="511920"/>
            <a:ext cx="10652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Controlled image perturbations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Oval 3"/>
          <p:cNvSpPr/>
          <p:nvPr/>
        </p:nvSpPr>
        <p:spPr>
          <a:xfrm>
            <a:off x="11155680" y="246960"/>
            <a:ext cx="547920" cy="54792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12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Rectangle 4"/>
          <p:cNvSpPr/>
          <p:nvPr/>
        </p:nvSpPr>
        <p:spPr>
          <a:xfrm>
            <a:off x="530280" y="1078920"/>
            <a:ext cx="11154960" cy="22320"/>
          </a:xfrm>
          <a:prstGeom prst="rect">
            <a:avLst/>
          </a:prstGeom>
          <a:solidFill>
            <a:srgbClr val="DCE4E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83" name="TextBox 5"/>
          <p:cNvSpPr/>
          <p:nvPr/>
        </p:nvSpPr>
        <p:spPr>
          <a:xfrm>
            <a:off x="324360" y="2545920"/>
            <a:ext cx="5005800" cy="179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18360" bIns="4500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Dark F1 0.6607 · Bright F1 0.5631.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Contrast 0.8783 · Blur 0.8862.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Rotation 0.9492 · Noise 0.9492.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Strong ROC–AUC can coexist with poor fixed-threshold performance after distribution shift.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Rounded Rectangle 6"/>
          <p:cNvSpPr/>
          <p:nvPr/>
        </p:nvSpPr>
        <p:spPr>
          <a:xfrm>
            <a:off x="5559480" y="1298520"/>
            <a:ext cx="6107400" cy="493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pic>
        <p:nvPicPr>
          <p:cNvPr id="185" name="Picture 7" descr="fit_267_6_robustness_metric_comparison.jpg"/>
          <p:cNvPicPr/>
          <p:nvPr/>
        </p:nvPicPr>
        <p:blipFill>
          <a:blip r:embed="rId3"/>
          <a:stretch/>
        </p:blipFill>
        <p:spPr>
          <a:xfrm>
            <a:off x="5559480" y="2397960"/>
            <a:ext cx="6107400" cy="2737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/>
          <p:nvPr/>
        </p:nvSpPr>
        <p:spPr>
          <a:xfrm>
            <a:off x="530280" y="228600"/>
            <a:ext cx="7954560" cy="1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PRT661 · DATA SCIENCE PRACTICE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2"/>
          <p:cNvSpPr/>
          <p:nvPr/>
        </p:nvSpPr>
        <p:spPr>
          <a:xfrm>
            <a:off x="530280" y="511920"/>
            <a:ext cx="10652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Ablation and efficiency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Oval 3"/>
          <p:cNvSpPr/>
          <p:nvPr/>
        </p:nvSpPr>
        <p:spPr>
          <a:xfrm>
            <a:off x="11155680" y="246960"/>
            <a:ext cx="547920" cy="54792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13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Rectangle 4"/>
          <p:cNvSpPr/>
          <p:nvPr/>
        </p:nvSpPr>
        <p:spPr>
          <a:xfrm>
            <a:off x="530280" y="1078920"/>
            <a:ext cx="11154960" cy="22320"/>
          </a:xfrm>
          <a:prstGeom prst="rect">
            <a:avLst/>
          </a:prstGeom>
          <a:solidFill>
            <a:srgbClr val="DCE4E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90" name="TextBox 5"/>
          <p:cNvSpPr/>
          <p:nvPr/>
        </p:nvSpPr>
        <p:spPr>
          <a:xfrm>
            <a:off x="621720" y="1344240"/>
            <a:ext cx="4708440" cy="2610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18360" bIns="4500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Short ablations reached F1 0.9935–0.9967; the spread is about one test image.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No strong augmentation/dropout architecture-winner claim is justified from that difference.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PotatoCNN size: 0.360 MB · measured latency 0.819 ms/image · throughput 1,222 images/s.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Efficiency supports prototyping; representative target-device benchmarking is still required.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ounded Rectangle 6"/>
          <p:cNvSpPr/>
          <p:nvPr/>
        </p:nvSpPr>
        <p:spPr>
          <a:xfrm>
            <a:off x="5559480" y="1298520"/>
            <a:ext cx="6107400" cy="493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pic>
        <p:nvPicPr>
          <p:cNvPr id="192" name="Picture 7" descr="fit_268_6_ablation_comparison.jpg"/>
          <p:cNvPicPr/>
          <p:nvPr/>
        </p:nvPicPr>
        <p:blipFill>
          <a:blip r:embed="rId3"/>
          <a:stretch/>
        </p:blipFill>
        <p:spPr>
          <a:xfrm>
            <a:off x="5559480" y="2434680"/>
            <a:ext cx="6107400" cy="2664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1"/>
          <p:cNvSpPr/>
          <p:nvPr/>
        </p:nvSpPr>
        <p:spPr>
          <a:xfrm>
            <a:off x="530280" y="228600"/>
            <a:ext cx="7954560" cy="1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PRT661 · DATA SCIENCE PRACTICE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2"/>
          <p:cNvSpPr/>
          <p:nvPr/>
        </p:nvSpPr>
        <p:spPr>
          <a:xfrm>
            <a:off x="530280" y="511920"/>
            <a:ext cx="10652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Feedback-integrated results explorer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Oval 3"/>
          <p:cNvSpPr/>
          <p:nvPr/>
        </p:nvSpPr>
        <p:spPr>
          <a:xfrm>
            <a:off x="11155680" y="246960"/>
            <a:ext cx="547920" cy="54792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14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Rectangle 4"/>
          <p:cNvSpPr/>
          <p:nvPr/>
        </p:nvSpPr>
        <p:spPr>
          <a:xfrm>
            <a:off x="530280" y="1078920"/>
            <a:ext cx="11154960" cy="22320"/>
          </a:xfrm>
          <a:prstGeom prst="rect">
            <a:avLst/>
          </a:prstGeom>
          <a:solidFill>
            <a:srgbClr val="DCE4E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97" name="Rounded Rectangle 5"/>
          <p:cNvSpPr/>
          <p:nvPr/>
        </p:nvSpPr>
        <p:spPr>
          <a:xfrm>
            <a:off x="594360" y="1298520"/>
            <a:ext cx="7863120" cy="5074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198" name="TextBox 7"/>
          <p:cNvSpPr/>
          <p:nvPr/>
        </p:nvSpPr>
        <p:spPr>
          <a:xfrm>
            <a:off x="8732520" y="1389960"/>
            <a:ext cx="2468160" cy="18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LIVE DEMO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Oval 8"/>
          <p:cNvSpPr/>
          <p:nvPr/>
        </p:nvSpPr>
        <p:spPr>
          <a:xfrm>
            <a:off x="8732520" y="1828800"/>
            <a:ext cx="392400" cy="39240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1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Box 9"/>
          <p:cNvSpPr/>
          <p:nvPr/>
        </p:nvSpPr>
        <p:spPr>
          <a:xfrm>
            <a:off x="9253800" y="1810440"/>
            <a:ext cx="2239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Compare models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Oval 10"/>
          <p:cNvSpPr/>
          <p:nvPr/>
        </p:nvSpPr>
        <p:spPr>
          <a:xfrm>
            <a:off x="8732520" y="2770560"/>
            <a:ext cx="392400" cy="39240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2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Box 11"/>
          <p:cNvSpPr/>
          <p:nvPr/>
        </p:nvSpPr>
        <p:spPr>
          <a:xfrm>
            <a:off x="9253800" y="2752200"/>
            <a:ext cx="2239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Inspect PlantDoc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Oval 12"/>
          <p:cNvSpPr/>
          <p:nvPr/>
        </p:nvSpPr>
        <p:spPr>
          <a:xfrm>
            <a:off x="8732520" y="3712320"/>
            <a:ext cx="392400" cy="39240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3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Box 13"/>
          <p:cNvSpPr/>
          <p:nvPr/>
        </p:nvSpPr>
        <p:spPr>
          <a:xfrm>
            <a:off x="9253800" y="3694320"/>
            <a:ext cx="2239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Review locked threshold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Oval 14"/>
          <p:cNvSpPr/>
          <p:nvPr/>
        </p:nvSpPr>
        <p:spPr>
          <a:xfrm>
            <a:off x="8732520" y="4654440"/>
            <a:ext cx="392400" cy="39240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4</a:t>
            </a:r>
            <a:endParaRPr lang="en-US" sz="1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Box 15"/>
          <p:cNvSpPr/>
          <p:nvPr/>
        </p:nvSpPr>
        <p:spPr>
          <a:xfrm>
            <a:off x="9253800" y="4636080"/>
            <a:ext cx="22395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Review robustness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Picture 206"/>
          <p:cNvPicPr/>
          <p:nvPr/>
        </p:nvPicPr>
        <p:blipFill>
          <a:blip r:embed="rId3"/>
          <a:stretch/>
        </p:blipFill>
        <p:spPr>
          <a:xfrm>
            <a:off x="1371600" y="1314720"/>
            <a:ext cx="6171480" cy="5058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/>
          <p:nvPr/>
        </p:nvSpPr>
        <p:spPr>
          <a:xfrm>
            <a:off x="530280" y="228600"/>
            <a:ext cx="7954560" cy="1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PRT661 · DATA SCIENCE PRACTICE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2"/>
          <p:cNvSpPr/>
          <p:nvPr/>
        </p:nvSpPr>
        <p:spPr>
          <a:xfrm>
            <a:off x="530280" y="511920"/>
            <a:ext cx="10652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Ethics, privacy and security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Oval 3"/>
          <p:cNvSpPr/>
          <p:nvPr/>
        </p:nvSpPr>
        <p:spPr>
          <a:xfrm>
            <a:off x="11155680" y="246960"/>
            <a:ext cx="547920" cy="54792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15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Rectangle 4"/>
          <p:cNvSpPr/>
          <p:nvPr/>
        </p:nvSpPr>
        <p:spPr>
          <a:xfrm>
            <a:off x="530280" y="1078920"/>
            <a:ext cx="11154960" cy="22320"/>
          </a:xfrm>
          <a:prstGeom prst="rect">
            <a:avLst/>
          </a:prstGeom>
          <a:solidFill>
            <a:srgbClr val="DCE4E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212" name="TextBox 5"/>
          <p:cNvSpPr/>
          <p:nvPr/>
        </p:nvSpPr>
        <p:spPr>
          <a:xfrm>
            <a:off x="548640" y="2318400"/>
            <a:ext cx="4708440" cy="2610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18360" bIns="4500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Two known disease labels do not equal field diagnosis or differential diagnosis.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No pesticide, treatment or pathogen-confirmation output is produced.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PlantDoc demonstrates external-domain weakness; field claims must remain explicitly limited.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Uploads, model version, preprocessing and threshold require validation, logging and rollback.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ounded Rectangle 6"/>
          <p:cNvSpPr/>
          <p:nvPr/>
        </p:nvSpPr>
        <p:spPr>
          <a:xfrm>
            <a:off x="5559480" y="1298520"/>
            <a:ext cx="6107400" cy="493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pic>
        <p:nvPicPr>
          <p:cNvPr id="214" name="Picture 7" descr="fit_270_6_overall_performance_summary.jpg"/>
          <p:cNvPicPr/>
          <p:nvPr/>
        </p:nvPicPr>
        <p:blipFill>
          <a:blip r:embed="rId3"/>
          <a:stretch/>
        </p:blipFill>
        <p:spPr>
          <a:xfrm>
            <a:off x="5559480" y="2048400"/>
            <a:ext cx="6107400" cy="3436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Box 1"/>
          <p:cNvSpPr/>
          <p:nvPr/>
        </p:nvSpPr>
        <p:spPr>
          <a:xfrm>
            <a:off x="530280" y="228600"/>
            <a:ext cx="7954560" cy="1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PRT661 · DATA SCIENCE PRACTICE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2"/>
          <p:cNvSpPr/>
          <p:nvPr/>
        </p:nvSpPr>
        <p:spPr>
          <a:xfrm>
            <a:off x="530280" y="511920"/>
            <a:ext cx="10652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Implementation status and evidence gaps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Oval 3"/>
          <p:cNvSpPr/>
          <p:nvPr/>
        </p:nvSpPr>
        <p:spPr>
          <a:xfrm>
            <a:off x="11155680" y="246960"/>
            <a:ext cx="547920" cy="54792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16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Rectangle 4"/>
          <p:cNvSpPr/>
          <p:nvPr/>
        </p:nvSpPr>
        <p:spPr>
          <a:xfrm>
            <a:off x="530280" y="1078920"/>
            <a:ext cx="11154960" cy="22320"/>
          </a:xfrm>
          <a:prstGeom prst="rect">
            <a:avLst/>
          </a:prstGeom>
          <a:solidFill>
            <a:srgbClr val="DCE4E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219" name="TextBox 5"/>
          <p:cNvSpPr/>
          <p:nvPr/>
        </p:nvSpPr>
        <p:spPr>
          <a:xfrm>
            <a:off x="621720" y="1982520"/>
            <a:ext cx="4708440" cy="315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18360" bIns="4500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Complete: provenance, 500-leaf group split, logistic baseline, PotatoCNN and MobileNetV2.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Complete: locked internal comparison, McNemar tests, XAI, calibration, segmentation, robustness, ablation and efficiency.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Complete: untouched PlantDoc external evaluation plus versioned evidence/interface artefacts.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Remaining submission items are team-specific links, contribution records and authentic project-management evidence.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ounded Rectangle 6"/>
          <p:cNvSpPr/>
          <p:nvPr/>
        </p:nvSpPr>
        <p:spPr>
          <a:xfrm>
            <a:off x="5559480" y="1298520"/>
            <a:ext cx="6107400" cy="493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pic>
        <p:nvPicPr>
          <p:cNvPr id="221" name="Picture 7" descr="fit_271_6_overall_performance_summary.jpg"/>
          <p:cNvPicPr/>
          <p:nvPr/>
        </p:nvPicPr>
        <p:blipFill>
          <a:blip r:embed="rId3"/>
          <a:stretch/>
        </p:blipFill>
        <p:spPr>
          <a:xfrm>
            <a:off x="5559480" y="2397960"/>
            <a:ext cx="6107400" cy="2737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Box 1"/>
          <p:cNvSpPr/>
          <p:nvPr/>
        </p:nvSpPr>
        <p:spPr>
          <a:xfrm>
            <a:off x="530280" y="228600"/>
            <a:ext cx="7954560" cy="1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PRT661 · DATA SCIENCE PRACTICE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2"/>
          <p:cNvSpPr/>
          <p:nvPr/>
        </p:nvSpPr>
        <p:spPr>
          <a:xfrm>
            <a:off x="530280" y="511920"/>
            <a:ext cx="10652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Prioritised next steps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Oval 3"/>
          <p:cNvSpPr/>
          <p:nvPr/>
        </p:nvSpPr>
        <p:spPr>
          <a:xfrm>
            <a:off x="11155680" y="246960"/>
            <a:ext cx="547920" cy="54792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17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Rectangle 4"/>
          <p:cNvSpPr/>
          <p:nvPr/>
        </p:nvSpPr>
        <p:spPr>
          <a:xfrm>
            <a:off x="530280" y="1078920"/>
            <a:ext cx="11154960" cy="22320"/>
          </a:xfrm>
          <a:prstGeom prst="rect">
            <a:avLst/>
          </a:prstGeom>
          <a:solidFill>
            <a:srgbClr val="DCE4E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226" name="TextBox 5"/>
          <p:cNvSpPr/>
          <p:nvPr/>
        </p:nvSpPr>
        <p:spPr>
          <a:xfrm>
            <a:off x="549000" y="1645200"/>
            <a:ext cx="4708440" cy="315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18360" bIns="4500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Collect prospective expert-labelled field images grouped by leaf, farm, device and site.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Add Healthy, Other/Unknown and input-quality rejection or abstention.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Keep preprocessing and thresholds versioned together; any representation change requires fresh validation.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Calibrate prospectively, declare cost-based operating points and evaluate human review before field use.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Rounded Rectangle 6"/>
          <p:cNvSpPr/>
          <p:nvPr/>
        </p:nvSpPr>
        <p:spPr>
          <a:xfrm>
            <a:off x="5559480" y="1298520"/>
            <a:ext cx="6107400" cy="493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228" name="TextBox 9"/>
          <p:cNvSpPr/>
          <p:nvPr/>
        </p:nvSpPr>
        <p:spPr>
          <a:xfrm>
            <a:off x="10195560" y="6492240"/>
            <a:ext cx="1462320" cy="15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75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Proof of concept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9" name="Picture 10" descr="fit_272_6_plantdoc_external_confusion_matrices.jpg"/>
          <p:cNvPicPr/>
          <p:nvPr/>
        </p:nvPicPr>
        <p:blipFill>
          <a:blip r:embed="rId3"/>
          <a:stretch/>
        </p:blipFill>
        <p:spPr>
          <a:xfrm>
            <a:off x="5559480" y="2433600"/>
            <a:ext cx="6107400" cy="2666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1"/>
          <p:cNvSpPr/>
          <p:nvPr/>
        </p:nvSpPr>
        <p:spPr>
          <a:xfrm>
            <a:off x="530280" y="228600"/>
            <a:ext cx="7954560" cy="1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PRT661 · DATA SCIENCE PRACTICE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2"/>
          <p:cNvSpPr/>
          <p:nvPr/>
        </p:nvSpPr>
        <p:spPr>
          <a:xfrm>
            <a:off x="530280" y="511920"/>
            <a:ext cx="10652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Future work 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Oval 3"/>
          <p:cNvSpPr/>
          <p:nvPr/>
        </p:nvSpPr>
        <p:spPr>
          <a:xfrm>
            <a:off x="11155680" y="246960"/>
            <a:ext cx="547920" cy="54792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18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Rectangle 4"/>
          <p:cNvSpPr/>
          <p:nvPr/>
        </p:nvSpPr>
        <p:spPr>
          <a:xfrm>
            <a:off x="530280" y="1078920"/>
            <a:ext cx="11154960" cy="22320"/>
          </a:xfrm>
          <a:prstGeom prst="rect">
            <a:avLst/>
          </a:prstGeom>
          <a:solidFill>
            <a:srgbClr val="DCE4E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234" name="TextBox 5"/>
          <p:cNvSpPr/>
          <p:nvPr/>
        </p:nvSpPr>
        <p:spPr>
          <a:xfrm>
            <a:off x="549000" y="1645200"/>
            <a:ext cx="4708440" cy="2610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18360" bIns="45000" anchor="t">
            <a:spAutoFit/>
          </a:bodyPr>
          <a:lstStyle/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Finalise authentic GitHub/Jira evidence and individual contribution records.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Reproduce the full pipeline in a clean environment with versioned dependencies.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Validate field/generalisation using grouped images by leaf, farm, device and site.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901"/>
              </a:spcAft>
            </a:pPr>
            <a:r>
              <a:rPr lang="en-US" sz="17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•  Prepare Assessment 4 demo/report with human review, rejection and calibration limits.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Rounded Rectangle 6"/>
          <p:cNvSpPr/>
          <p:nvPr/>
        </p:nvSpPr>
        <p:spPr>
          <a:xfrm>
            <a:off x="5559480" y="1298520"/>
            <a:ext cx="6107400" cy="4937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236" name="TextBox 9"/>
          <p:cNvSpPr/>
          <p:nvPr/>
        </p:nvSpPr>
        <p:spPr>
          <a:xfrm>
            <a:off x="10195560" y="6492240"/>
            <a:ext cx="1462320" cy="15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75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Assessment 4</a:t>
            </a:r>
            <a:endParaRPr lang="en-US" sz="7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7" name="Picture 10" descr="fit_272_6_plantdoc_external_confusion_matrices.jpg"/>
          <p:cNvPicPr/>
          <p:nvPr/>
        </p:nvPicPr>
        <p:blipFill>
          <a:blip r:embed="rId2"/>
          <a:stretch/>
        </p:blipFill>
        <p:spPr>
          <a:xfrm>
            <a:off x="5559480" y="2433600"/>
            <a:ext cx="6107400" cy="2666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Box 1"/>
          <p:cNvSpPr/>
          <p:nvPr/>
        </p:nvSpPr>
        <p:spPr>
          <a:xfrm>
            <a:off x="530280" y="228600"/>
            <a:ext cx="7954560" cy="173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PRT661 · DATA SCIENCE PRACTICE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2"/>
          <p:cNvSpPr/>
          <p:nvPr/>
        </p:nvSpPr>
        <p:spPr>
          <a:xfrm>
            <a:off x="530280" y="511920"/>
            <a:ext cx="1065204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Conclusion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Oval 3"/>
          <p:cNvSpPr/>
          <p:nvPr/>
        </p:nvSpPr>
        <p:spPr>
          <a:xfrm>
            <a:off x="11155680" y="246960"/>
            <a:ext cx="547920" cy="54792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19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Rectangle 4"/>
          <p:cNvSpPr/>
          <p:nvPr/>
        </p:nvSpPr>
        <p:spPr>
          <a:xfrm>
            <a:off x="530280" y="1078920"/>
            <a:ext cx="11154960" cy="22320"/>
          </a:xfrm>
          <a:prstGeom prst="rect">
            <a:avLst/>
          </a:prstGeom>
          <a:solidFill>
            <a:srgbClr val="DCE4E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242" name="Rounded Rectangle 5"/>
          <p:cNvSpPr/>
          <p:nvPr/>
        </p:nvSpPr>
        <p:spPr>
          <a:xfrm>
            <a:off x="621720" y="1325880"/>
            <a:ext cx="2586960" cy="1233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243" name="TextBox 6"/>
          <p:cNvSpPr/>
          <p:nvPr/>
        </p:nvSpPr>
        <p:spPr>
          <a:xfrm>
            <a:off x="768240" y="144468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strike="noStrike" spc="-1">
                <a:solidFill>
                  <a:srgbClr val="64748B"/>
                </a:solidFill>
                <a:latin typeface="Times New Roman"/>
                <a:ea typeface="DejaVu Sans"/>
              </a:rPr>
              <a:t>TEST ACCURACY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Box 7"/>
          <p:cNvSpPr/>
          <p:nvPr/>
        </p:nvSpPr>
        <p:spPr>
          <a:xfrm>
            <a:off x="768240" y="1719000"/>
            <a:ext cx="2294280" cy="38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99.67%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Box 8"/>
          <p:cNvSpPr/>
          <p:nvPr/>
        </p:nvSpPr>
        <p:spPr>
          <a:xfrm>
            <a:off x="768240" y="216720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group-isolated internal set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Rounded Rectangle 9"/>
          <p:cNvSpPr/>
          <p:nvPr/>
        </p:nvSpPr>
        <p:spPr>
          <a:xfrm>
            <a:off x="3392280" y="1325880"/>
            <a:ext cx="2586960" cy="1233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247" name="TextBox 10"/>
          <p:cNvSpPr/>
          <p:nvPr/>
        </p:nvSpPr>
        <p:spPr>
          <a:xfrm>
            <a:off x="3538800" y="144468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strike="noStrike" spc="-1">
                <a:solidFill>
                  <a:srgbClr val="64748B"/>
                </a:solidFill>
                <a:latin typeface="Times New Roman"/>
                <a:ea typeface="DejaVu Sans"/>
              </a:rPr>
              <a:t>LATE RECALL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11"/>
          <p:cNvSpPr/>
          <p:nvPr/>
        </p:nvSpPr>
        <p:spPr>
          <a:xfrm>
            <a:off x="3538800" y="1719000"/>
            <a:ext cx="2294280" cy="38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99.32%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12"/>
          <p:cNvSpPr/>
          <p:nvPr/>
        </p:nvSpPr>
        <p:spPr>
          <a:xfrm>
            <a:off x="3538800" y="216720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147 / 148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Rounded Rectangle 13"/>
          <p:cNvSpPr/>
          <p:nvPr/>
        </p:nvSpPr>
        <p:spPr>
          <a:xfrm>
            <a:off x="6163200" y="1325880"/>
            <a:ext cx="2586960" cy="1233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251" name="TextBox 14"/>
          <p:cNvSpPr/>
          <p:nvPr/>
        </p:nvSpPr>
        <p:spPr>
          <a:xfrm>
            <a:off x="6309360" y="144468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strike="noStrike" spc="-1">
                <a:solidFill>
                  <a:srgbClr val="64748B"/>
                </a:solidFill>
                <a:latin typeface="Times New Roman"/>
                <a:ea typeface="DejaVu Sans"/>
              </a:rPr>
              <a:t>PLANTDOC ACC.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15"/>
          <p:cNvSpPr/>
          <p:nvPr/>
        </p:nvSpPr>
        <p:spPr>
          <a:xfrm>
            <a:off x="6309360" y="1719000"/>
            <a:ext cx="2294280" cy="38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58.56%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16"/>
          <p:cNvSpPr/>
          <p:nvPr/>
        </p:nvSpPr>
        <p:spPr>
          <a:xfrm>
            <a:off x="6309360" y="216720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222 untouched images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Rounded Rectangle 17"/>
          <p:cNvSpPr/>
          <p:nvPr/>
        </p:nvSpPr>
        <p:spPr>
          <a:xfrm>
            <a:off x="8933760" y="1325880"/>
            <a:ext cx="2586960" cy="1233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360">
            <a:solidFill>
              <a:srgbClr val="DCE4E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255" name="TextBox 18"/>
          <p:cNvSpPr/>
          <p:nvPr/>
        </p:nvSpPr>
        <p:spPr>
          <a:xfrm>
            <a:off x="9079920" y="144468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strike="noStrike" spc="-1">
                <a:solidFill>
                  <a:srgbClr val="64748B"/>
                </a:solidFill>
                <a:latin typeface="Times New Roman"/>
                <a:ea typeface="DejaVu Sans"/>
              </a:rPr>
              <a:t>PLANTDOC F1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19"/>
          <p:cNvSpPr/>
          <p:nvPr/>
        </p:nvSpPr>
        <p:spPr>
          <a:xfrm>
            <a:off x="9079920" y="1719000"/>
            <a:ext cx="2294280" cy="38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0.4831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Box 20"/>
          <p:cNvSpPr/>
          <p:nvPr/>
        </p:nvSpPr>
        <p:spPr>
          <a:xfrm>
            <a:off x="9079920" y="2167200"/>
            <a:ext cx="2294280" cy="16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strike="noStrike" spc="-1">
                <a:solidFill>
                  <a:srgbClr val="64748B"/>
                </a:solidFill>
                <a:latin typeface="Times New Roman"/>
                <a:ea typeface="DejaVu Sans"/>
              </a:rPr>
              <a:t>ROC–AUC 0.6210</a:t>
            </a:r>
            <a:endParaRPr lang="en-US" sz="8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Box 21"/>
          <p:cNvSpPr/>
          <p:nvPr/>
        </p:nvSpPr>
        <p:spPr>
          <a:xfrm>
            <a:off x="868680" y="3429000"/>
            <a:ext cx="1828080" cy="18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TAKEAWAY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Rounded Rectangle 22"/>
          <p:cNvSpPr/>
          <p:nvPr/>
        </p:nvSpPr>
        <p:spPr>
          <a:xfrm>
            <a:off x="686160" y="3794760"/>
            <a:ext cx="10514880" cy="95940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9360">
            <a:solidFill>
              <a:srgbClr val="B4530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260" name="Rectangle 23"/>
          <p:cNvSpPr/>
          <p:nvPr/>
        </p:nvSpPr>
        <p:spPr>
          <a:xfrm>
            <a:off x="868680" y="3794760"/>
            <a:ext cx="63360" cy="959400"/>
          </a:xfrm>
          <a:prstGeom prst="rect">
            <a:avLst/>
          </a:prstGeom>
          <a:solidFill>
            <a:srgbClr val="B45309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261" name="TextBox 24"/>
          <p:cNvSpPr/>
          <p:nvPr/>
        </p:nvSpPr>
        <p:spPr>
          <a:xfrm>
            <a:off x="1042560" y="4174920"/>
            <a:ext cx="10222200" cy="22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Excellent internal separation · weak PlantDoc transfer · field validation required before use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Box 1"/>
          <p:cNvSpPr/>
          <p:nvPr/>
        </p:nvSpPr>
        <p:spPr>
          <a:xfrm>
            <a:off x="530280" y="228600"/>
            <a:ext cx="795456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2F855A"/>
                </a:solidFill>
                <a:latin typeface="Times New Roman"/>
                <a:ea typeface="DejaVu Sans"/>
              </a:rPr>
              <a:t>PRT661 · DATA SCIENCE PRACTICE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Box 2"/>
          <p:cNvSpPr/>
          <p:nvPr/>
        </p:nvSpPr>
        <p:spPr>
          <a:xfrm>
            <a:off x="530280" y="511920"/>
            <a:ext cx="10652040" cy="28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142033"/>
                </a:solidFill>
                <a:latin typeface="Times New Roman"/>
                <a:ea typeface="DejaVu Sans"/>
              </a:rPr>
              <a:t>Selected references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Oval 3"/>
          <p:cNvSpPr/>
          <p:nvPr/>
        </p:nvSpPr>
        <p:spPr>
          <a:xfrm>
            <a:off x="11155680" y="246960"/>
            <a:ext cx="547920" cy="547920"/>
          </a:xfrm>
          <a:prstGeom prst="ellipse">
            <a:avLst/>
          </a:prstGeom>
          <a:solidFill>
            <a:srgbClr val="2F855A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strike="noStrike" spc="-1">
                <a:solidFill>
                  <a:srgbClr val="FFFFFF"/>
                </a:solidFill>
                <a:latin typeface="Times New Roman"/>
                <a:ea typeface="DejaVu Sans"/>
              </a:rPr>
              <a:t>20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Rectangle 4"/>
          <p:cNvSpPr/>
          <p:nvPr/>
        </p:nvSpPr>
        <p:spPr>
          <a:xfrm>
            <a:off x="530280" y="1078920"/>
            <a:ext cx="11154960" cy="22320"/>
          </a:xfrm>
          <a:prstGeom prst="rect">
            <a:avLst/>
          </a:prstGeom>
          <a:solidFill>
            <a:srgbClr val="DCE4EF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600" b="0" strike="noStrike" spc="-1">
              <a:solidFill>
                <a:schemeClr val="lt1"/>
              </a:solidFill>
              <a:latin typeface="Times New Roman"/>
              <a:ea typeface="DejaVu Sans"/>
            </a:endParaRPr>
          </a:p>
        </p:txBody>
      </p:sp>
      <p:sp>
        <p:nvSpPr>
          <p:cNvPr id="266" name="TextBox 5"/>
          <p:cNvSpPr/>
          <p:nvPr/>
        </p:nvSpPr>
        <p:spPr>
          <a:xfrm>
            <a:off x="640080" y="1325880"/>
            <a:ext cx="5302800" cy="238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Wingdings" charset="2"/>
              <a:buChar char=""/>
            </a:pPr>
            <a:r>
              <a:rPr lang="en-US" sz="16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Mohanty et al. (2016). Plant disease detection. Frontiers in Plant Science.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Wingdings" charset="2"/>
              <a:buChar char=""/>
            </a:pPr>
            <a:r>
              <a:rPr lang="en-US" sz="16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Hughes &amp; Salathé (2015). PlantVillage repository announcement. arXiv.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Wingdings" charset="2"/>
              <a:buChar char=""/>
            </a:pPr>
            <a:r>
              <a:rPr lang="en-US" sz="16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Singh et al. (2020). PlantDoc: visual plant disease detection dataset. CoDS-COMAD.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Wingdings" charset="2"/>
              <a:buChar char=""/>
            </a:pPr>
            <a:r>
              <a:rPr lang="en-US" sz="16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Ferentinos (2018). Deep learning for plant disease. Computers and Electronics in Agriculture.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6"/>
          <p:cNvSpPr/>
          <p:nvPr/>
        </p:nvSpPr>
        <p:spPr>
          <a:xfrm>
            <a:off x="6263640" y="1325880"/>
            <a:ext cx="5302800" cy="189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Wingdings" charset="2"/>
              <a:buChar char=""/>
            </a:pPr>
            <a:r>
              <a:rPr lang="en-US" sz="16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Sandler et al. (2018). MobileNetV2: inverted residuals and linear bottlenecks. CVPR.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Wingdings" charset="2"/>
              <a:buChar char=""/>
            </a:pPr>
            <a:r>
              <a:rPr lang="en-US" sz="16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Selvaraju et al. (2017). Grad-CAM. ICCV.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Wingdings" charset="2"/>
              <a:buChar char=""/>
            </a:pPr>
            <a:r>
              <a:rPr lang="en-US" sz="16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Guo et al. (2017). Neural-network calibration. ICML.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Aft>
                <a:spcPts val="901"/>
              </a:spcAft>
              <a:buClr>
                <a:srgbClr val="172033"/>
              </a:buClr>
              <a:buFont typeface="Wingdings" charset="2"/>
              <a:buChar char=""/>
            </a:pPr>
            <a:r>
              <a:rPr lang="en-US" sz="1600" b="0" strike="noStrike" spc="-1">
                <a:solidFill>
                  <a:srgbClr val="172033"/>
                </a:solidFill>
                <a:latin typeface="Times New Roman"/>
                <a:ea typeface="DejaVu Sans"/>
              </a:rPr>
              <a:t>Hendrycks &amp; Dietterich (2019). Corruption robustness. ICLR.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1327</Words>
  <Application>Microsoft Office PowerPoint</Application>
  <PresentationFormat>Widescreen</PresentationFormat>
  <Paragraphs>231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MM-Siam</dc:creator>
  <dc:description>generated using python-pptx</dc:description>
  <cp:lastModifiedBy>Partha Mallik</cp:lastModifiedBy>
  <cp:revision>12</cp:revision>
  <dcterms:created xsi:type="dcterms:W3CDTF">2013-01-27T09:14:16Z</dcterms:created>
  <dcterms:modified xsi:type="dcterms:W3CDTF">2026-10-04T05:27:57Z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19</vt:r8>
  </property>
  <property fmtid="{D5CDD505-2E9C-101B-9397-08002B2CF9AE}" pid="3" name="PresentationFormat">
    <vt:lpwstr>Widescreen</vt:lpwstr>
  </property>
  <property fmtid="{D5CDD505-2E9C-101B-9397-08002B2CF9AE}" pid="4" name="Slides">
    <vt:r8>19</vt:r8>
  </property>
</Properties>
</file>